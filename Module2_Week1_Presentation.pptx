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3200" b="1">
                <a:solidFill>
                  <a:srgbClr val="ED1C24"/>
                </a:solidFill>
                <a:latin typeface="Calibri"/>
              </a:defRPr>
            </a:pPr>
            <a:r>
              <a:t>Module 2: Modélisation Avancée et Solutions Décisionnelles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400" b="0">
                <a:solidFill>
                  <a:srgbClr val="282828"/>
                </a:solidFill>
                <a:latin typeface="Calibri"/>
              </a:defRPr>
            </a:pPr>
            <a:r>
              <a:t>WEEK 1 | Relational Database Foundations &amp; Schema Design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ED1C24"/>
                </a:solidFill>
                <a:latin typeface="Calibri"/>
              </a:defRPr>
            </a:pPr>
            <a:r>
              <a:t>🔴 BLOC 1: CORE CONCEPTS - Le choc des Titans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000">
                <a:solidFill>
                  <a:srgbClr val="282828"/>
                </a:solidFill>
              </a:defRPr>
            </a:pPr>
            <a:r>
              <a:t>Situation: L'artisanat sur tableur</a:t>
            </a:r>
          </a:p>
          <a:p>
            <a:pPr lvl="1">
              <a:defRPr sz="1600"/>
            </a:pPr>
            <a:r>
              <a:t>- Excel est excellent, mais possède un plafond de verre : le Excel Ceiling.</a:t>
            </a:r>
          </a:p>
          <a:p>
            <a:pPr>
              <a:defRPr b="1" sz="2000">
                <a:solidFill>
                  <a:srgbClr val="282828"/>
                </a:solidFill>
              </a:defRPr>
            </a:pPr>
            <a:r>
              <a:t>Complication: Limites de stockage</a:t>
            </a:r>
          </a:p>
          <a:p>
            <a:pPr lvl="1">
              <a:defRPr sz="1600"/>
            </a:pPr>
            <a:r>
              <a:t>- À plus d'1 million de lignes, le logiciel suffoque.</a:t>
            </a:r>
            <a:br/>
            <a:r>
              <a:t>- Risque élevé d'erreurs manuelles et de corruption.</a:t>
            </a:r>
          </a:p>
          <a:p>
            <a:pPr>
              <a:defRPr b="1" sz="2000">
                <a:solidFill>
                  <a:srgbClr val="ED1C24"/>
                </a:solidFill>
              </a:defRPr>
            </a:pPr>
            <a:r>
              <a:t>Résolution: Ingénierie de la donnée avec RDBMS</a:t>
            </a:r>
          </a:p>
          <a:p>
            <a:pPr lvl="1">
              <a:defRPr sz="1600"/>
            </a:pPr>
            <a:r>
              <a:t>- Relational Database Management Systems.</a:t>
            </a:r>
            <a:br/>
            <a:r>
              <a:t>- Data Integrity: Règles strictes (ex: pas de doublons, atomicité).</a:t>
            </a:r>
            <a:br/>
            <a:r>
              <a:t>- Scalability: Des milliards de records sans perte de performance.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1371600"/>
            <a:ext cx="3657600" cy="4572000"/>
          </a:xfrm>
          <a:prstGeom prst="rect">
            <a:avLst/>
          </a:prstGeom>
          <a:solidFill>
            <a:srgbClr val="FFFFFF"/>
          </a:solidFill>
          <a:ln w="25400">
            <a:solidFill>
              <a:srgbClr val="ED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282828"/>
                </a:solidFill>
                <a:latin typeface="Calibri"/>
              </a:defRPr>
            </a:pPr>
            <a:r>
              <a:t>[VISUEL KADEA]</a:t>
            </a:r>
            <a:br/>
            <a:r>
              <a:t>Balance minimaliste.</a:t>
            </a:r>
            <a:br/>
            <a:r>
              <a:t>Gauche: Tableur fissuré (Spreadsheet).</a:t>
            </a:r>
            <a:br/>
            <a:r>
              <a:t>Droite: Cylindre rouge (RDBMS) avec bouclier (Data Integrity).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ED1C24"/>
                </a:solidFill>
                <a:latin typeface="Calibri"/>
              </a:defRPr>
            </a:pPr>
            <a:r>
              <a:t>🔴 BLOC 2: TECHNICAL VOCAB - Parler le langage 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000"/>
            </a:pPr>
            <a:r>
              <a:t>Tables, Fields &amp; Records</a:t>
            </a:r>
          </a:p>
          <a:p>
            <a:pPr lvl="1">
              <a:defRPr sz="1600"/>
            </a:pPr>
            <a:r>
              <a:t>- Tables: Stockage intuitif des données.</a:t>
            </a:r>
            <a:br/>
            <a:r>
              <a:t>- Records: Une ligne = une occurrence unique du monde réel.</a:t>
            </a:r>
            <a:br/>
            <a:r>
              <a:t>- Fields: Colonnes décrivant les attributs de la donnée.</a:t>
            </a:r>
          </a:p>
          <a:p>
            <a:pPr>
              <a:defRPr b="1" sz="2000">
                <a:solidFill>
                  <a:srgbClr val="ED1C24"/>
                </a:solidFill>
              </a:defRPr>
            </a:pPr>
            <a:r>
              <a:t>Primary Keys (PK) &amp; Foreign Keys (FK)</a:t>
            </a:r>
          </a:p>
          <a:p>
            <a:pPr lvl="1">
              <a:defRPr sz="1600"/>
            </a:pPr>
            <a:r>
              <a:t>- PK: Identifiant absolu et unique de chaque Record.</a:t>
            </a:r>
            <a:br/>
            <a:r>
              <a:t>- FK: Clé étrangère pointant vers la PK d'une table parente.</a:t>
            </a:r>
            <a:br/>
            <a:r>
              <a:t>- C'est le ciment de toute base de données mondiale !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1371600"/>
            <a:ext cx="3657600" cy="4572000"/>
          </a:xfrm>
          <a:prstGeom prst="rect">
            <a:avLst/>
          </a:prstGeom>
          <a:solidFill>
            <a:srgbClr val="FFFFFF"/>
          </a:solidFill>
          <a:ln w="25400">
            <a:solidFill>
              <a:srgbClr val="ED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282828"/>
                </a:solidFill>
                <a:latin typeface="Calibri"/>
              </a:defRPr>
            </a:pPr>
            <a:r>
              <a:t>[VISUEL KADEA]</a:t>
            </a:r>
            <a:br/>
            <a:r>
              <a:t>Diagramme épuré.</a:t>
            </a:r>
            <a:br/>
            <a:r>
              <a:t>Bloc 1: Champ ID rouge vif (PK).</a:t>
            </a:r>
            <a:br/>
            <a:r>
              <a:t>Bloc 2: Champ ID contourné rouge (FK).</a:t>
            </a:r>
            <a:br/>
            <a:r>
              <a:t>Un rayon laser rouge relie la PK à la FK.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ED1C24"/>
                </a:solidFill>
                <a:latin typeface="Calibri"/>
              </a:defRPr>
            </a:pPr>
            <a:r>
              <a:t>🔴 BLOC 3: WORKSHOP - Les mains dans le cambouis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000"/>
            </a:pPr>
            <a:r>
              <a:t>Setup de l'environnement</a:t>
            </a:r>
          </a:p>
          <a:p>
            <a:pPr lvl="1">
              <a:defRPr sz="1600"/>
            </a:pPr>
            <a:r>
              <a:t>- Installation locale (DBeaver ou SQLite Browser).</a:t>
            </a:r>
          </a:p>
          <a:p>
            <a:pPr>
              <a:defRPr b="1" sz="2000"/>
            </a:pPr>
            <a:r>
              <a:t>Initialisation: Kadea_Lab.db</a:t>
            </a:r>
          </a:p>
          <a:p>
            <a:pPr lvl="1">
              <a:defRPr sz="1600"/>
            </a:pPr>
            <a:r>
              <a:t>- Table Customers avec PK (ID client).</a:t>
            </a:r>
            <a:br/>
            <a:r>
              <a:t>- Table Orders avec FK référençant l'ID client.</a:t>
            </a:r>
          </a:p>
          <a:p>
            <a:pPr>
              <a:defRPr b="1" sz="2000">
                <a:solidFill>
                  <a:srgbClr val="ED1C24"/>
                </a:solidFill>
              </a:defRPr>
            </a:pPr>
            <a:r>
              <a:t>Crash Test: Data Integrity en action</a:t>
            </a:r>
          </a:p>
          <a:p>
            <a:pPr lvl="1">
              <a:defRPr sz="1600"/>
            </a:pPr>
            <a:r>
              <a:t>- Forcez l'insertion d'une commande pour un client inexistant.</a:t>
            </a:r>
            <a:br/>
            <a:r>
              <a:t>- Résultat : Erreur SGBD. La Data Integrity fonctionne !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1371600"/>
            <a:ext cx="3657600" cy="4572000"/>
          </a:xfrm>
          <a:prstGeom prst="rect">
            <a:avLst/>
          </a:prstGeom>
          <a:solidFill>
            <a:srgbClr val="FFFFFF"/>
          </a:solidFill>
          <a:ln w="25400">
            <a:solidFill>
              <a:srgbClr val="ED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282828"/>
                </a:solidFill>
                <a:latin typeface="Calibri"/>
              </a:defRPr>
            </a:pPr>
            <a:r>
              <a:t>[VISUEL KADEA]</a:t>
            </a:r>
            <a:br/>
            <a:r>
              <a:t>Capture DBeaver (thème sombre).</a:t>
            </a:r>
            <a:br/>
            <a:r>
              <a:t>Pastilles rouges (1, 2, 3) pour guider le Setup Step-by-Step.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ED1C24"/>
                </a:solidFill>
                <a:latin typeface="Calibri"/>
              </a:defRPr>
            </a:pPr>
            <a:r>
              <a:t>🔴 BLOC 4: EXERCISE - Design Thinking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000"/>
            </a:pPr>
            <a:r>
              <a:t>Conceptual Data Model (CDM/MCD)</a:t>
            </a:r>
          </a:p>
          <a:p>
            <a:pPr lvl="1">
              <a:defRPr sz="1600"/>
            </a:pPr>
            <a:r>
              <a:t>- On ne code jamais avant de modéliser sur papier.</a:t>
            </a:r>
            <a:br/>
            <a:r>
              <a:t>- Abstraire le 'monde réel' graphiquement.</a:t>
            </a:r>
          </a:p>
          <a:p>
            <a:pPr>
              <a:defRPr b="1" sz="2000">
                <a:solidFill>
                  <a:srgbClr val="ED1C24"/>
                </a:solidFill>
              </a:defRPr>
            </a:pPr>
            <a:r>
              <a:t>Mission : Kadea Telco (Infrastructure RDC)</a:t>
            </a:r>
          </a:p>
          <a:p>
            <a:pPr lvl="1">
              <a:defRPr sz="1600"/>
            </a:pPr>
            <a:r>
              <a:t>- Modéliser le système d'infrastructures télécoms dans les 26 provinces de la RDC.</a:t>
            </a:r>
            <a:br/>
            <a:r>
              <a:t>- Entités: Provinces, Cell_Towers (Antennes), Technicians.</a:t>
            </a:r>
          </a:p>
          <a:p>
            <a:pPr>
              <a:defRPr b="1" sz="2000"/>
            </a:pPr>
            <a:r>
              <a:t>Le Piège Formateur (Many-to-Many)</a:t>
            </a:r>
          </a:p>
          <a:p>
            <a:pPr lvl="1">
              <a:defRPr sz="1600"/>
            </a:pPr>
            <a:r>
              <a:t>- Un technicien gère plusieurs antennes, une antenne est gérée par plusieurs techniciens.</a:t>
            </a:r>
            <a:br/>
            <a:r>
              <a:t>- Solution: Créer une table intermédiaire (ex: Maintenance_Assignments) !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1371600"/>
            <a:ext cx="3657600" cy="4572000"/>
          </a:xfrm>
          <a:prstGeom prst="rect">
            <a:avLst/>
          </a:prstGeom>
          <a:solidFill>
            <a:srgbClr val="FFFFFF"/>
          </a:solidFill>
          <a:ln w="25400">
            <a:solidFill>
              <a:srgbClr val="ED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282828"/>
                </a:solidFill>
                <a:latin typeface="Calibri"/>
              </a:defRPr>
            </a:pPr>
            <a:r>
              <a:t>[VISUEL KADEA]</a:t>
            </a:r>
            <a:br/>
            <a:r>
              <a:t>Animation en deux temps.</a:t>
            </a:r>
            <a:br/>
            <a:r>
              <a:t>1: Croquis crayonné (Provinces/Antennes/Techniciens).</a:t>
            </a:r>
            <a:br/>
            <a:r>
              <a:t>2: Morphing en Database Schema strict encadré de rouge.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ED1C24"/>
                </a:solidFill>
                <a:latin typeface="Calibri"/>
              </a:defRPr>
            </a:pPr>
            <a:r>
              <a:t>Ressources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200"/>
            </a:pPr>
            <a:r>
              <a:t>Key Milestone Validé ✅</a:t>
            </a:r>
          </a:p>
          <a:p>
            <a:pPr lvl="1">
              <a:defRPr sz="1800"/>
            </a:pPr>
            <a:r>
              <a:t>- Limites du tableur comprises.</a:t>
            </a:r>
            <a:br/>
            <a:r>
              <a:t>- Jargon de l'ingénieur de données acquis.</a:t>
            </a:r>
            <a:br/>
            <a:r>
              <a:t>- Environnement technique opérationnel (DBeaver/SQLite).</a:t>
            </a:r>
            <a:br/>
            <a:r>
              <a:t>- Capacité à lire un plan d'architecture (Schema Design).</a:t>
            </a:r>
          </a:p>
          <a:p>
            <a:br/>
            <a:pPr>
              <a:defRPr b="1" sz="2200">
                <a:solidFill>
                  <a:srgbClr val="ED1C24"/>
                </a:solidFill>
              </a:defRPr>
            </a:pPr>
            <a:r>
              <a:t>Ressources Utiles :</a:t>
            </a:r>
          </a:p>
          <a:p>
            <a:pPr lvl="1">
              <a:defRPr sz="1800"/>
            </a:pPr>
            <a:r>
              <a:t>- Documentation SQLite officielle: sqlite.org/docs.html</a:t>
            </a:r>
            <a:br/>
            <a:r>
              <a:t>- DBeaver Community Edition: dbeaver.io</a:t>
            </a:r>
            <a:br/>
            <a:r>
              <a:t>- Visualisation de Database Schema: dbdiagram.io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