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ED1C24"/>
                </a:solidFill>
                <a:latin typeface="Calibri"/>
              </a:defRPr>
            </a:pPr>
            <a:r>
              <a:t>Bases de données : Modélisation et SQL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400" b="0">
                <a:solidFill>
                  <a:srgbClr val="282828"/>
                </a:solidFill>
                <a:latin typeface="Calibri"/>
              </a:defRPr>
            </a:pPr>
            <a:r>
              <a:t>Cours Complet, de la Conception à l'Analyse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1. Généralités sur les Bases de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Définition</a:t>
            </a:r>
          </a:p>
          <a:p>
            <a:pPr lvl="1">
              <a:defRPr sz="1400"/>
            </a:pPr>
            <a:r>
              <a:t>Un ensemble de données stockées et structurées informatiquement pour faciliter la consultation et la modification.</a:t>
            </a:r>
          </a:p>
          <a:p>
            <a:pPr>
              <a:defRPr b="1" sz="1800">
                <a:solidFill>
                  <a:srgbClr val="282828"/>
                </a:solidFill>
              </a:defRPr>
            </a:pPr>
            <a:r>
              <a:t>Le Rôle du SGBD</a:t>
            </a:r>
          </a:p>
          <a:p>
            <a:pPr lvl="1">
              <a:defRPr sz="1400"/>
            </a:pPr>
            <a:r>
              <a:t>Le Système de Gestion de Bases de Données est le logiciel intermédiaire.</a:t>
            </a:r>
          </a:p>
          <a:p>
            <a:pPr lvl="1">
              <a:defRPr sz="1400"/>
            </a:pPr>
            <a:r>
              <a:t>Il gère la cohérence des données, les accès multiples (concurrents) et la sécurité.</a:t>
            </a:r>
          </a:p>
          <a:p>
            <a:pPr lvl="1">
              <a:defRPr sz="1400"/>
            </a:pPr>
            <a:r>
              <a:t>Il assure la reprise sur incident (ex: annulation après une coupure de courant).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Schéma: Utilisateur -&gt; SGBD -&gt; Fichiers de la base de données sur disque dur.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2. Les Différents Types de SGBD (Historique)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Années 1960</a:t>
            </a:r>
          </a:p>
          <a:p>
            <a:pPr lvl="1">
              <a:defRPr sz="1400"/>
            </a:pPr>
            <a:r>
              <a:t>Hiérarchiques : données en arborescence.</a:t>
            </a:r>
          </a:p>
          <a:p>
            <a:pPr lvl="1">
              <a:defRPr sz="1400"/>
            </a:pPr>
            <a:r>
              <a:t>Réseaux : arborescence avec raccourcis.</a:t>
            </a:r>
          </a:p>
          <a:p>
            <a:pPr>
              <a:defRPr b="1" sz="1800">
                <a:solidFill>
                  <a:srgbClr val="282828"/>
                </a:solidFill>
              </a:defRPr>
            </a:pPr>
            <a:r>
              <a:t>Années 1970 - Modèle Relationnel</a:t>
            </a:r>
          </a:p>
          <a:p>
            <a:pPr lvl="1">
              <a:defRPr sz="1400"/>
            </a:pPr>
            <a:r>
              <a:t>1970 : Edgar F. Codd invente le modèle relationnel.</a:t>
            </a:r>
          </a:p>
          <a:p>
            <a:pPr lvl="1">
              <a:defRPr sz="1400"/>
            </a:pPr>
            <a:r>
              <a:t>Données organisées en tableaux liés entre eux. Langage SQL standardisé en 1974.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Années 2000 - NoSQL</a:t>
            </a:r>
          </a:p>
          <a:p>
            <a:pPr lvl="1">
              <a:defRPr sz="1400"/>
            </a:pPr>
            <a:r>
              <a:t>Not Only SQL : Bases Clé/Valeur, Orientées Documents, Graphes.</a:t>
            </a:r>
          </a:p>
          <a:p>
            <a:pPr lvl="1">
              <a:defRPr sz="1400"/>
            </a:pPr>
            <a:r>
              <a:t>Pour le Big Data et la très haute disponibilité.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Frise chronologique des SGBD, mettant en avant l'apparition du Modèle Relationnel et du NoSQL.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3. La Notion de Transaction et l'ACIDité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La Transaction</a:t>
            </a:r>
          </a:p>
          <a:p>
            <a:pPr lvl="1">
              <a:defRPr sz="1400"/>
            </a:pPr>
            <a:r>
              <a:t>Une séquence indivisible d'actions (ex: virement bancaire = débit + crédit).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Les Principes ACID</a:t>
            </a:r>
          </a:p>
          <a:p>
            <a:pPr lvl="1">
              <a:defRPr sz="1400"/>
            </a:pPr>
            <a:r>
              <a:t>Atomicité : La transaction est exécutée en entier ou annulée totalement.</a:t>
            </a:r>
          </a:p>
          <a:p>
            <a:pPr lvl="1">
              <a:defRPr sz="1400"/>
            </a:pPr>
            <a:r>
              <a:t>Cohérence : La base passe d'un état valide à un autre état valide.</a:t>
            </a:r>
          </a:p>
          <a:p>
            <a:pPr lvl="1">
              <a:defRPr sz="1400"/>
            </a:pPr>
            <a:r>
              <a:t>Isolation : Deux transactions simultanées n'interfèrent pas.</a:t>
            </a:r>
          </a:p>
          <a:p>
            <a:pPr lvl="1">
              <a:defRPr sz="1400"/>
            </a:pPr>
            <a:r>
              <a:t>Durabilité : Une transaction validée survit aux pannes système.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Icône d'un coffre-fort avec les 4 piliers de l'ACID.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4. Le Modèle Relationnel : Fondements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Relations (Tables)</a:t>
            </a:r>
          </a:p>
          <a:p>
            <a:pPr lvl="1">
              <a:defRPr sz="1400"/>
            </a:pPr>
            <a:r>
              <a:t>L'information est stockée dans des tables constituées de colonnes (attributs) et de lignes (enregistrements).</a:t>
            </a:r>
          </a:p>
          <a:p>
            <a:pPr lvl="1">
              <a:defRPr sz="1400"/>
            </a:pPr>
            <a:r>
              <a:t>Chaque colonne possède un domaine de valeurs précis (type, longueur, contraintes).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Le Système de Clés</a:t>
            </a:r>
          </a:p>
          <a:p>
            <a:pPr lvl="1">
              <a:defRPr sz="1400"/>
            </a:pPr>
            <a:r>
              <a:t>Clé Primaire : Identifiant unique d'une ligne dans une table.</a:t>
            </a:r>
          </a:p>
          <a:p>
            <a:pPr lvl="1">
              <a:defRPr sz="1400"/>
            </a:pPr>
            <a:r>
              <a:t>Clé Étrangère : Colonne pointant vers la clé primaire d'une autre table, créant le lien.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Illustration de deux tables (Ville et Personne). Un rayon laser relie la Clé Primaire 'Code_Ville' à la Clé Étrangère de la table Personne.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5. Associations et Cardinalités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Types de Liens</a:t>
            </a:r>
          </a:p>
          <a:p>
            <a:pPr lvl="1">
              <a:defRPr sz="1400"/>
            </a:pPr>
            <a:r>
              <a:t>1-1 : Un pays a une seule capitale.</a:t>
            </a:r>
          </a:p>
          <a:p>
            <a:pPr lvl="1">
              <a:defRPr sz="1400"/>
            </a:pPr>
            <a:r>
              <a:t>1-N : Un pays possède plusieurs villes, une ville appartient à un seul pays.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Le Cas Complexe : Plusieurs-à-Plusieurs (N-M)</a:t>
            </a:r>
          </a:p>
          <a:p>
            <a:pPr lvl="1">
              <a:defRPr sz="1400"/>
            </a:pPr>
            <a:r>
              <a:t>Ex: Une personne travaille dans plusieurs entreprises, une entreprise emploie plusieurs personnes.</a:t>
            </a:r>
          </a:p>
          <a:p>
            <a:pPr lvl="1">
              <a:defRPr sz="1400"/>
            </a:pPr>
            <a:r>
              <a:t>Solution : Créer une 'Table d'Association' (ex: Travail) contenant les clés étrangères des deux tables.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Schéma expliquant la résolution d'une relation N-M par une table intermédiaire.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6. L'Algèbre Relationnelle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Opérations sur 1 table</a:t>
            </a:r>
          </a:p>
          <a:p>
            <a:pPr lvl="1">
              <a:defRPr sz="1400"/>
            </a:pPr>
            <a:r>
              <a:t>Sélection : Filtre les lignes selon une condition.</a:t>
            </a:r>
          </a:p>
          <a:p>
            <a:pPr lvl="1">
              <a:defRPr sz="1400"/>
            </a:pPr>
            <a:r>
              <a:t>Projection : Ne conserve que certaines colonnes.</a:t>
            </a:r>
          </a:p>
          <a:p>
            <a:pPr lvl="1">
              <a:defRPr sz="1400"/>
            </a:pPr>
            <a:r>
              <a:t>Renommage : Modifie le nom d'une colonne.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Opérations sur 2 tables</a:t>
            </a:r>
          </a:p>
          <a:p>
            <a:pPr lvl="1">
              <a:defRPr sz="1400"/>
            </a:pPr>
            <a:r>
              <a:t>Produit Cartésien : Combine tous les éléments de deux tables.</a:t>
            </a:r>
          </a:p>
          <a:p>
            <a:pPr lvl="1">
              <a:defRPr sz="1400"/>
            </a:pPr>
            <a:r>
              <a:t>Jointure : Combine des éléments répondant à un critère de liaison.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Infographie montrant le concept visuel de la Projection (colonnes verticales en surbrillance) et de la Sélection (lignes horizontales en surbrillance).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7. Modélisation Conceptuelle avec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Diagramme de Classes UML</a:t>
            </a:r>
          </a:p>
          <a:p>
            <a:pPr lvl="1">
              <a:defRPr sz="1400"/>
            </a:pPr>
            <a:r>
              <a:t>Le nom de la relation en haut.</a:t>
            </a:r>
          </a:p>
          <a:p>
            <a:pPr lvl="1">
              <a:defRPr sz="1400"/>
            </a:pPr>
            <a:r>
              <a:t>La liste des colonnes en bas : nom_colonne: type(longueur).</a:t>
            </a:r>
          </a:p>
          <a:p>
            <a:pPr lvl="1">
              <a:defRPr sz="1400"/>
            </a:pPr>
            <a:r>
              <a:t>Les Clés Primaires sont soulignées, les Clés Étrangères précédées d'un #.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Agrégation et Composition</a:t>
            </a:r>
          </a:p>
          <a:p>
            <a:pPr lvl="1">
              <a:defRPr sz="1400"/>
            </a:pPr>
            <a:r>
              <a:t>Agrégation : Lien simple (ex: une maison est une agrégation de murs).</a:t>
            </a:r>
          </a:p>
          <a:p>
            <a:pPr lvl="1">
              <a:defRPr sz="1400"/>
            </a:pPr>
            <a:r>
              <a:t>Composition : Agrégation forte, la destruction du tout détruit la partie (ex: école et cycles scolaires).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Exemple de formalisme UML strict avec une table d'association.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8. Le Langage SQL : Définition des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Architecture Client-Serveur</a:t>
            </a:r>
          </a:p>
          <a:p>
            <a:pPr lvl="1">
              <a:defRPr sz="1400"/>
            </a:pPr>
            <a:r>
              <a:t>Le client (ex: DBeaver) envoie des requêtes SQL au serveur (ex: PostgreSQL).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Création de Tables (DDL)</a:t>
            </a:r>
          </a:p>
          <a:p>
            <a:pPr lvl="1">
              <a:defRPr sz="1400"/>
            </a:pPr>
            <a:r>
              <a:t>Syntaxe : CREATE TABLE nom (colonne1 type, colonne2 type);</a:t>
            </a:r>
          </a:p>
          <a:p>
            <a:pPr lvl="1">
              <a:defRPr sz="1400"/>
            </a:pPr>
            <a:r>
              <a:t>Contraintes : NOT NULL, PRIMARY KEY, UNIQUE, CHECK(condition).</a:t>
            </a:r>
          </a:p>
          <a:p>
            <a:pPr>
              <a:defRPr b="1" sz="1800">
                <a:solidFill>
                  <a:srgbClr val="282828"/>
                </a:solidFill>
              </a:defRPr>
            </a:pPr>
            <a:r>
              <a:t>Modification</a:t>
            </a:r>
          </a:p>
          <a:p>
            <a:pPr lvl="1">
              <a:defRPr sz="1400"/>
            </a:pPr>
            <a:r>
              <a:t>ALTER TABLE : Ajouter, supprimer des colonnes ou des contraintes.</a:t>
            </a:r>
          </a:p>
          <a:p>
            <a:pPr lvl="1">
              <a:defRPr sz="1400"/>
            </a:pPr>
            <a:r>
              <a:t>DROP TABLE : Supprimer une 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Capture d'écran de l'interface DBeaver connectée à une base PostgreSQL.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9. Le Langage SQL : Manipulation des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Insertion</a:t>
            </a:r>
          </a:p>
          <a:p>
            <a:pPr lvl="1">
              <a:defRPr sz="1400"/>
            </a:pPr>
            <a:r>
              <a:t>INSERT INTO table (col1, col2) VALUES (val1, val2);</a:t>
            </a:r>
          </a:p>
          <a:p>
            <a:pPr>
              <a:defRPr b="1" sz="1800">
                <a:solidFill>
                  <a:srgbClr val="282828"/>
                </a:solidFill>
              </a:defRPr>
            </a:pPr>
            <a:r>
              <a:t>Modification</a:t>
            </a:r>
          </a:p>
          <a:p>
            <a:pPr lvl="1">
              <a:defRPr sz="1400"/>
            </a:pPr>
            <a:r>
              <a:t>UPDATE table SET col1 = val1 WHERE condition;</a:t>
            </a:r>
          </a:p>
          <a:p>
            <a:pPr>
              <a:defRPr b="1" sz="1800">
                <a:solidFill>
                  <a:srgbClr val="282828"/>
                </a:solidFill>
              </a:defRPr>
            </a:pPr>
            <a:r>
              <a:t>Suppression</a:t>
            </a:r>
          </a:p>
          <a:p>
            <a:pPr lvl="1">
              <a:defRPr sz="1400"/>
            </a:pPr>
            <a:r>
              <a:t>DELETE FROM table WHERE condition;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Qualité de Données (LinkedIn Learning)</a:t>
            </a:r>
          </a:p>
          <a:p>
            <a:pPr lvl="1">
              <a:defRPr sz="1400"/>
            </a:pPr>
            <a:r>
              <a:t>Le SQL est indispensable pour le nettoyage (Data Wrangling).</a:t>
            </a:r>
          </a:p>
          <a:p>
            <a:pPr lvl="1">
              <a:defRPr sz="1400"/>
            </a:pPr>
            <a:r>
              <a:t>Permet de gérer massivement les formats mixtes ou les données manquantes (NULL).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Code snippet : Une requête UPDATE corrigeant une faute de frappe dans un dataset sale.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10. Le Langage SQL : Requêtes d'Analyse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Projection et Sélection</a:t>
            </a:r>
          </a:p>
          <a:p>
            <a:pPr lvl="1">
              <a:defRPr sz="1400"/>
            </a:pPr>
            <a:r>
              <a:t>SELECT col1, col2 FROM table WHERE condition;</a:t>
            </a:r>
          </a:p>
          <a:p>
            <a:pPr lvl="1">
              <a:defRPr sz="1400"/>
            </a:pPr>
            <a:r>
              <a:t>Utilisation de l'opérateur LIKE avec '%' pour les recherches textuelles.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La Jointure (JOIN)</a:t>
            </a:r>
          </a:p>
          <a:p>
            <a:pPr lvl="1">
              <a:defRPr sz="1400"/>
            </a:pPr>
            <a:r>
              <a:t>Pour relier les données de plusieurs tables.</a:t>
            </a:r>
          </a:p>
          <a:p>
            <a:pPr lvl="1">
              <a:defRPr sz="1400"/>
            </a:pPr>
            <a:r>
              <a:t>SELECT * FROM tableA JOIN tableB ON tableA.id = tableB.fk_id;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Un schéma d'ensembles de Venn montrant le fonctionnement d'une Jointure (l'intersection).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ED1C24"/>
                </a:solidFill>
                <a:latin typeface="Calibri"/>
              </a:defRPr>
            </a:pPr>
            <a:r>
              <a:t>11. Le Langage SQL : Requêtes d'Analyse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>
                <a:solidFill>
                  <a:srgbClr val="282828"/>
                </a:solidFill>
              </a:defRPr>
            </a:pPr>
            <a:r>
              <a:t>Fonctions d'Agrégation</a:t>
            </a:r>
          </a:p>
          <a:p>
            <a:pPr lvl="1">
              <a:defRPr sz="1400"/>
            </a:pPr>
            <a:r>
              <a:t>COUNT(), AVG(), SUM(), MIN(), MAX().</a:t>
            </a:r>
          </a:p>
          <a:p>
            <a:pPr lvl="1">
              <a:defRPr sz="1400"/>
            </a:pPr>
            <a:r>
              <a:t>Le regroupement via GROUP BY pour analyser par catégorie.</a:t>
            </a:r>
          </a:p>
          <a:p>
            <a:pPr>
              <a:defRPr b="1" sz="1800">
                <a:solidFill>
                  <a:srgbClr val="ED1C24"/>
                </a:solidFill>
              </a:defRPr>
            </a:pPr>
            <a:r>
              <a:t>Fonctions de Fenêtrage (LinkedIn Learning)</a:t>
            </a:r>
          </a:p>
          <a:p>
            <a:pPr lvl="1">
              <a:defRPr sz="1400"/>
            </a:pPr>
            <a:r>
              <a:t>Pour l'analyse statistique avancée sur PostgreSQL.</a:t>
            </a:r>
          </a:p>
          <a:p>
            <a:pPr lvl="1">
              <a:defRPr sz="1400"/>
            </a:pPr>
            <a:r>
              <a:t>Syntaxe : OVER(), PARTITION BY().</a:t>
            </a:r>
          </a:p>
          <a:p>
            <a:pPr lvl="1">
              <a:defRPr sz="1400"/>
            </a:pPr>
            <a:r>
              <a:t>Permet de calculer des totaux cumulés ou des rangs sans réduire le nombre de lignes (contrairement à GROUP BY).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Tableau de bord minimaliste montrant des résultats agrégés par région.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