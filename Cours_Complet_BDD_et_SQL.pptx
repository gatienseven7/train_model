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dans ce module avancé. L'objectif n'est pas seulement d'écrire du SQL, mais de concevoir des architectures robustes et performantes. Nous allons explorer les fondamentaux théoriques, puis plonger dans la modélisation UML, l'optimisation des performances, et les requêtes analytiques avancées.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SGBD est souvent réduit à tort à un gros disque dur. Insistez sur le fait que le SGBD est le garant de l'intégrité métier. Sans lui, des transactions concurrentes corrompraient la base instantanément. Mentionnez le 'Write-Ahead Logging' (WAL) qui permet aux banques de ne jamais perdre une transaction même en cas de coupure de courant.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concept d'isolation est le plus subtil. Expliquez les 'Niveaux d'Isolation' (Read Uncommitted, Read Committed, Repeatable Read, Serializable). Un DBA doit souvent arbitrer entre le plus haut niveau d'isolation (sécurité maximale mais performances réduites à cause des verrous) et des niveaux inférieurs plus rapides.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Insistez sur la Table de Jonction (Junction Table). Une erreur classique de débutant est d'essayer de stocker des valeurs multiples séparées par des virgules dans une seule colonne. Cela casse complètement le modèle relationnel et les performances de requêtage.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3ème Forme Normale (3NF) est le standard d'or de l'industrie. La phrase mnémotechnique de Bill Kent : 'Every non-key attribute must provide a fact about the key, the whole key, and nothing but the key, so help me Codd.' Mentionnez que dans les entrepôts de données (Data Warehouses) pour la BI, on effectue souvent le processus inverse : la 'Dénormalisation', pour accélérer la lecture.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une requête SQL est lente, la solution n'est presque jamais 'le SGBD est mauvais'. C'est généralement un manque d'index ou une requête mal formulée qui force le SGBD à faire un 'Full Table Scan' (lecture complète de la table). L'instruction EXPLAIN permet de lire dans les pensées de l'optimiseur de requêtes.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Rappelez que l'UML est universel. Si un architecte produit un bon diagramme de classes UML, n'importe quel développeur ou outil de génération de code peut le traduire automatiquement en script SQL DDL. La composition (losange plein) implique une dépendance existentielle forte : si je supprime une Commande, ses Lignes_de_Commande doivent être détruites en cascade (ON DELETE CASCADE).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confondez jamais WHERE et HAVING. Le WHERE filtre les lignes avant le calcul. Le HAVING filtre le résultat du calcul (ex: afficher les catégories dont la moyenne est &gt; 100).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ici que l'on sépare les juniors des seniors en SQL. Les CTEs (clause WITH) permettent d'écrire des scripts d'analyse clairs comme du code impératif. Les Window Functions sont essentielles en Data Science et BI pour faire du tracking temporel (LAG/LEAD) sans faire de jointures croisées complexes.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3200" b="1">
                <a:solidFill>
                  <a:srgbClr val="ED1C24"/>
                </a:solidFill>
                <a:latin typeface="Calibri"/>
              </a:defRPr>
            </a:pPr>
            <a:r>
              <a:t>Ingénierie de la Donnée : Modélisation Avancée et SQL</a:t>
            </a:r>
          </a:p>
        </p:txBody>
      </p:sp>
      <p:sp>
        <p:nvSpPr>
          <p:cNvPr id="3" name="Subtitle 2"/>
          <p:cNvSpPr>
            <a:spLocks noGrp="1"/>
          </p:cNvSpPr>
          <p:nvPr>
            <p:ph type="subTitle" idx="1"/>
          </p:nvPr>
        </p:nvSpPr>
        <p:spPr/>
        <p:txBody>
          <a:bodyPr/>
          <a:lstStyle/>
          <a:p>
            <a:pPr algn="ctr">
              <a:defRPr sz="2400" b="0">
                <a:solidFill>
                  <a:srgbClr val="282828"/>
                </a:solidFill>
                <a:latin typeface="Calibri"/>
              </a:defRPr>
            </a:pPr>
            <a:r>
              <a:t>Architecture Relationnelle, Optimisation et Analyse de Données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1. Les Fondations de l'Ingénierie de Données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Au-delà du Tableur</a:t>
            </a:r>
          </a:p>
          <a:p>
            <a:pPr lvl="1">
              <a:defRPr sz="1400"/>
            </a:pPr>
            <a:r>
              <a:t>Les bases de données séparent le stockage physique de la logique applicative.</a:t>
            </a:r>
          </a:p>
          <a:p>
            <a:pPr lvl="1">
              <a:defRPr sz="1400"/>
            </a:pPr>
            <a:r>
              <a:t>Objectif : Indépendance physique et logique des données.</a:t>
            </a:r>
          </a:p>
          <a:p>
            <a:pPr>
              <a:defRPr b="1" sz="1800">
                <a:solidFill>
                  <a:srgbClr val="282828"/>
                </a:solidFill>
              </a:defRPr>
            </a:pPr>
            <a:r>
              <a:t>Le Rôle du SGBDR (RDBMS)</a:t>
            </a:r>
          </a:p>
          <a:p>
            <a:pPr lvl="1">
              <a:defRPr sz="1400"/>
            </a:pPr>
            <a:r>
              <a:t>Le SGBDR n'est pas qu'un espace de stockage, c'est un moteur de règles.</a:t>
            </a:r>
          </a:p>
          <a:p>
            <a:pPr lvl="1">
              <a:defRPr sz="1400"/>
            </a:pPr>
            <a:r>
              <a:t>Gestion stricte de la concurrence (verrous, isolation).</a:t>
            </a:r>
          </a:p>
          <a:p>
            <a:pPr lvl="1">
              <a:defRPr sz="1400"/>
            </a:pPr>
            <a:r>
              <a:t>Gestion de la reprise sur panne (Write-Ahead Logging).</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Architecture Client-Serveur: Couche Applicative -&gt; Moteur SGBD (Optimiseur de requêtes) -&gt; Stockage Disque.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2. Les Différents Types de SGBD (Historique)</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Années 1960</a:t>
            </a:r>
          </a:p>
          <a:p>
            <a:pPr lvl="1">
              <a:defRPr sz="1400"/>
            </a:pPr>
            <a:r>
              <a:t>Hiérarchiques : données en arborescence.</a:t>
            </a:r>
          </a:p>
          <a:p>
            <a:pPr lvl="1">
              <a:defRPr sz="1400"/>
            </a:pPr>
            <a:r>
              <a:t>Réseaux : arborescence avec raccourcis.</a:t>
            </a:r>
          </a:p>
          <a:p>
            <a:pPr>
              <a:defRPr b="1" sz="1800">
                <a:solidFill>
                  <a:srgbClr val="282828"/>
                </a:solidFill>
              </a:defRPr>
            </a:pPr>
            <a:r>
              <a:t>Années 1970 - Modèle Relationnel</a:t>
            </a:r>
          </a:p>
          <a:p>
            <a:pPr lvl="1">
              <a:defRPr sz="1400"/>
            </a:pPr>
            <a:r>
              <a:t>1970 : Edgar F. Codd invente le modèle relationnel.</a:t>
            </a:r>
          </a:p>
          <a:p>
            <a:pPr lvl="1">
              <a:defRPr sz="1400"/>
            </a:pPr>
            <a:r>
              <a:t>Données organisées en tableaux liés entre eux. Langage SQL standardisé en 1974.</a:t>
            </a:r>
          </a:p>
          <a:p>
            <a:pPr>
              <a:defRPr b="1" sz="1800">
                <a:solidFill>
                  <a:srgbClr val="ED1C24"/>
                </a:solidFill>
              </a:defRPr>
            </a:pPr>
            <a:r>
              <a:t>Années 2000 - NoSQL</a:t>
            </a:r>
          </a:p>
          <a:p>
            <a:pPr lvl="1">
              <a:defRPr sz="1400"/>
            </a:pPr>
            <a:r>
              <a:t>Not Only SQL : Bases Clé/Valeur, Orientées Documents, Graphes.</a:t>
            </a:r>
          </a:p>
          <a:p>
            <a:pPr lvl="1">
              <a:defRPr sz="1400"/>
            </a:pPr>
            <a:r>
              <a:t>Pour le Big Data et la très haute disponibilité.</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Frise chronologique des SGBD, mettant en avant l'apparition du Modèle Relationnel et du NoSQL.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3. L'Architecture Transactionnelle : ACID</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La Transaction de bout en bout</a:t>
            </a:r>
          </a:p>
          <a:p>
            <a:pPr lvl="1">
              <a:defRPr sz="1400"/>
            </a:pPr>
            <a:r>
              <a:t>L'unité logique de traitement garantissant l'intégrité systémique.</a:t>
            </a:r>
          </a:p>
          <a:p>
            <a:pPr>
              <a:defRPr b="1" sz="1800">
                <a:solidFill>
                  <a:srgbClr val="ED1C24"/>
                </a:solidFill>
              </a:defRPr>
            </a:pPr>
            <a:r>
              <a:t>Les Principes Fondamentaux</a:t>
            </a:r>
          </a:p>
          <a:p>
            <a:pPr lvl="1">
              <a:defRPr sz="1400"/>
            </a:pPr>
            <a:r>
              <a:t>Atomicité (All-or-Nothing) : Exécution complète ou Rollback total.</a:t>
            </a:r>
          </a:p>
          <a:p>
            <a:pPr lvl="1">
              <a:defRPr sz="1400"/>
            </a:pPr>
            <a:r>
              <a:t>Cohérence : Application stricte des contraintes (Constraints &amp; Triggers).</a:t>
            </a:r>
          </a:p>
          <a:p>
            <a:pPr lvl="1">
              <a:defRPr sz="1400"/>
            </a:pPr>
            <a:r>
              <a:t>Isolation : Prévention des lectures sales (Dirty Reads) via les niveaux d'isolation.</a:t>
            </a:r>
          </a:p>
          <a:p>
            <a:pPr lvl="1">
              <a:defRPr sz="1400"/>
            </a:pPr>
            <a:r>
              <a:t>Durabilité : Persistance garantie même en cas d'arrêt brutal (Crash).</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Icône d'un coffre-fort avec les 4 piliers de l'ACID. Indiquer 'Commit' et 'Rollback'.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4. Le Modèle Relationnel : Fondements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Relations (Tables)</a:t>
            </a:r>
          </a:p>
          <a:p>
            <a:pPr lvl="1">
              <a:defRPr sz="1400"/>
            </a:pPr>
            <a:r>
              <a:t>L'information est stockée dans des tables constituées de colonnes (attributs) et de lignes (enregistrements).</a:t>
            </a:r>
          </a:p>
          <a:p>
            <a:pPr lvl="1">
              <a:defRPr sz="1400"/>
            </a:pPr>
            <a:r>
              <a:t>Chaque colonne possède un domaine de valeurs précis (type, longueur, contraintes).</a:t>
            </a:r>
          </a:p>
          <a:p>
            <a:pPr>
              <a:defRPr b="1" sz="1800">
                <a:solidFill>
                  <a:srgbClr val="ED1C24"/>
                </a:solidFill>
              </a:defRPr>
            </a:pPr>
            <a:r>
              <a:t>Le Système de Clés</a:t>
            </a:r>
          </a:p>
          <a:p>
            <a:pPr lvl="1">
              <a:defRPr sz="1400"/>
            </a:pPr>
            <a:r>
              <a:t>Clé Primaire : Identifiant unique d'une ligne dans une table.</a:t>
            </a:r>
          </a:p>
          <a:p>
            <a:pPr lvl="1">
              <a:defRPr sz="1400"/>
            </a:pPr>
            <a:r>
              <a:t>Clé Étrangère : Colonne pointant vers la clé primaire d'une autre table, créant le lien.</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Illustration de deux tables (Ville et Personne). Un rayon laser relie la Clé Primaire 'Code_Ville' à la Clé Étrangère de la table Personne.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5. Associations et Cardinalités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Types de Liens</a:t>
            </a:r>
          </a:p>
          <a:p>
            <a:pPr lvl="1">
              <a:defRPr sz="1400"/>
            </a:pPr>
            <a:r>
              <a:t>1-1 : Un pays a une seule capitale.</a:t>
            </a:r>
          </a:p>
          <a:p>
            <a:pPr lvl="1">
              <a:defRPr sz="1400"/>
            </a:pPr>
            <a:r>
              <a:t>1-N : Un pays possède plusieurs villes, une ville appartient à un seul pays.</a:t>
            </a:r>
          </a:p>
          <a:p>
            <a:pPr>
              <a:defRPr b="1" sz="1800">
                <a:solidFill>
                  <a:srgbClr val="ED1C24"/>
                </a:solidFill>
              </a:defRPr>
            </a:pPr>
            <a:r>
              <a:t>Le Cas Complexe : Plusieurs-à-Plusieurs (N-M)</a:t>
            </a:r>
          </a:p>
          <a:p>
            <a:pPr lvl="1">
              <a:defRPr sz="1400"/>
            </a:pPr>
            <a:r>
              <a:t>Ex: Une personne travaille dans plusieurs entreprises, une entreprise emploie plusieurs personnes.</a:t>
            </a:r>
          </a:p>
          <a:p>
            <a:pPr lvl="1">
              <a:defRPr sz="1400"/>
            </a:pPr>
            <a:r>
              <a:t>Solution : Créer une 'Table d'Association' (ex: Travail) contenant les clés étrangères des deux tables.</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Schéma expliquant la résolution d'une relation N-M par une table de jonction.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6. Théorie de l'Architecture : La Normalisation</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Pourquoi normaliser ?</a:t>
            </a:r>
          </a:p>
          <a:p>
            <a:pPr lvl="1">
              <a:defRPr sz="1400"/>
            </a:pPr>
            <a:r>
              <a:t>Éviter les anomalies d'insertion, de mise à jour et de suppression.</a:t>
            </a:r>
          </a:p>
          <a:p>
            <a:pPr lvl="1">
              <a:defRPr sz="1400"/>
            </a:pPr>
            <a:r>
              <a:t>Éliminer la redondance des données pour garantir une source unique de vérité.</a:t>
            </a:r>
          </a:p>
          <a:p>
            <a:pPr>
              <a:defRPr b="1" sz="1800">
                <a:solidFill>
                  <a:srgbClr val="ED1C24"/>
                </a:solidFill>
              </a:defRPr>
            </a:pPr>
            <a:r>
              <a:t>Les Formes Normales (Normal Forms)</a:t>
            </a:r>
          </a:p>
          <a:p>
            <a:pPr lvl="1">
              <a:defRPr sz="1400"/>
            </a:pPr>
            <a:r>
              <a:t>1NF : Valeurs atomiques (pas de listes dans une colonne).</a:t>
            </a:r>
          </a:p>
          <a:p>
            <a:pPr lvl="1">
              <a:defRPr sz="1400"/>
            </a:pPr>
            <a:r>
              <a:t>2NF : 1NF + Tout attribut non clé dépend de la totalité de la clé primaire.</a:t>
            </a:r>
          </a:p>
          <a:p>
            <a:pPr lvl="1">
              <a:defRPr sz="1400"/>
            </a:pPr>
            <a:r>
              <a:t>3NF : 2NF + Pas de dépendance transitive (un attribut non clé ne doit pas dépendre d'un autre attribut non clé).</a:t>
            </a:r>
          </a:p>
          <a:p>
            <a:pPr lvl="1">
              <a:defRPr sz="1400"/>
            </a:pPr>
            <a:r>
              <a:t>BCNF (Boyce-Codd) : Version stricte de la 3NF.</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Tableau montrant une donnée 'dénormalisée' se divisant proprement en trois tables normalisées (1NF -&gt; 3NF).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7. Performance : Indexation et Plans d'Exécution</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Les Mécanismes d'Indexation</a:t>
            </a:r>
          </a:p>
          <a:p>
            <a:pPr lvl="1">
              <a:defRPr sz="1400"/>
            </a:pPr>
            <a:r>
              <a:t>Un index accélère la lecture mais ralentit l'écriture (INSERT/UPDATE).</a:t>
            </a:r>
          </a:p>
          <a:p>
            <a:pPr lvl="1">
              <a:defRPr sz="1400"/>
            </a:pPr>
            <a:r>
              <a:t>Arbres B-Tree (Balanced Tree) : Standard pour les recherches de plages.</a:t>
            </a:r>
          </a:p>
          <a:p>
            <a:pPr lvl="1">
              <a:defRPr sz="1400"/>
            </a:pPr>
            <a:r>
              <a:t>Index Hash : Optimisés pour les correspondances exactes.</a:t>
            </a:r>
          </a:p>
          <a:p>
            <a:pPr>
              <a:defRPr b="1" sz="1800">
                <a:solidFill>
                  <a:srgbClr val="ED1C24"/>
                </a:solidFill>
              </a:defRPr>
            </a:pPr>
            <a:r>
              <a:t>Query Execution Plan (EXPLAIN)</a:t>
            </a:r>
          </a:p>
          <a:p>
            <a:pPr lvl="1">
              <a:defRPr sz="1400"/>
            </a:pPr>
            <a:r>
              <a:t>L'optimiseur (Query Planner) décide comment lire les données.</a:t>
            </a:r>
          </a:p>
          <a:p>
            <a:pPr lvl="1">
              <a:defRPr sz="1400"/>
            </a:pPr>
            <a:r>
              <a:t>Full Table Scan : Lecture séquentielle (très coûteuse).</a:t>
            </a:r>
          </a:p>
          <a:p>
            <a:pPr lvl="1">
              <a:defRPr sz="1400"/>
            </a:pPr>
            <a:r>
              <a:t>Index Seek / Scan : Accès direct via l'index O(log N).</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Arbre B-Tree inversé cherchant la valeur 42, contre un tableau scanné ligne par ligne.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6. L'Algèbre Relationnelle</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Opérations sur 1 table</a:t>
            </a:r>
          </a:p>
          <a:p>
            <a:pPr lvl="1">
              <a:defRPr sz="1400"/>
            </a:pPr>
            <a:r>
              <a:t>Sélection : Filtre les lignes selon une condition.</a:t>
            </a:r>
          </a:p>
          <a:p>
            <a:pPr lvl="1">
              <a:defRPr sz="1400"/>
            </a:pPr>
            <a:r>
              <a:t>Projection : Ne conserve que certaines colonnes.</a:t>
            </a:r>
          </a:p>
          <a:p>
            <a:pPr lvl="1">
              <a:defRPr sz="1400"/>
            </a:pPr>
            <a:r>
              <a:t>Renommage : Modifie le nom d'une colonne.</a:t>
            </a:r>
          </a:p>
          <a:p>
            <a:pPr>
              <a:defRPr b="1" sz="1800">
                <a:solidFill>
                  <a:srgbClr val="ED1C24"/>
                </a:solidFill>
              </a:defRPr>
            </a:pPr>
            <a:r>
              <a:t>Opérations sur 2 tables</a:t>
            </a:r>
          </a:p>
          <a:p>
            <a:pPr lvl="1">
              <a:defRPr sz="1400"/>
            </a:pPr>
            <a:r>
              <a:t>Produit Cartésien : Combine tous les éléments de deux tables.</a:t>
            </a:r>
          </a:p>
          <a:p>
            <a:pPr lvl="1">
              <a:defRPr sz="1400"/>
            </a:pPr>
            <a:r>
              <a:t>Jointure : Combine des éléments répondant à un critère de liaison.</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Infographie montrant le concept visuel de la Projection (colonnes verticales en surbrillance) et de la Sélection (lignes horizontales en surbrillance).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7. Modélisation Conceptuelle avec UML</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Diagramme de Classes UML</a:t>
            </a:r>
          </a:p>
          <a:p>
            <a:pPr lvl="1">
              <a:defRPr sz="1400"/>
            </a:pPr>
            <a:r>
              <a:t>Le nom de la relation en haut.</a:t>
            </a:r>
          </a:p>
          <a:p>
            <a:pPr lvl="1">
              <a:defRPr sz="1400"/>
            </a:pPr>
            <a:r>
              <a:t>La liste des colonnes en bas : nom_colonne: type(longueur).</a:t>
            </a:r>
          </a:p>
          <a:p>
            <a:pPr lvl="1">
              <a:defRPr sz="1400"/>
            </a:pPr>
            <a:r>
              <a:t>Les Clés Primaires sont soulignées, les Clés Étrangères précédées d'un #.</a:t>
            </a:r>
          </a:p>
          <a:p>
            <a:pPr>
              <a:defRPr b="1" sz="1800">
                <a:solidFill>
                  <a:srgbClr val="ED1C24"/>
                </a:solidFill>
              </a:defRPr>
            </a:pPr>
            <a:r>
              <a:t>Agrégation et Composition</a:t>
            </a:r>
          </a:p>
          <a:p>
            <a:pPr lvl="1">
              <a:defRPr sz="1400"/>
            </a:pPr>
            <a:r>
              <a:t>Agrégation : Lien simple (ex: une maison est une agrégation de murs).</a:t>
            </a:r>
          </a:p>
          <a:p>
            <a:pPr lvl="1">
              <a:defRPr sz="1400"/>
            </a:pPr>
            <a:r>
              <a:t>Composition : Agrégation forte, la destruction du tout détruit la partie (ex: école et cycles scolaires).</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Exemple de formalisme UML strict avec une table d'association.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8. Le Langage SQL : Définition des Données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Architecture Client-Serveur</a:t>
            </a:r>
          </a:p>
          <a:p>
            <a:pPr lvl="1">
              <a:defRPr sz="1400"/>
            </a:pPr>
            <a:r>
              <a:t>Le client (ex: DBeaver) envoie des requêtes SQL au serveur (ex: PostgreSQL).</a:t>
            </a:r>
          </a:p>
          <a:p>
            <a:pPr>
              <a:defRPr b="1" sz="1800">
                <a:solidFill>
                  <a:srgbClr val="ED1C24"/>
                </a:solidFill>
              </a:defRPr>
            </a:pPr>
            <a:r>
              <a:t>Création de Tables (DDL)</a:t>
            </a:r>
          </a:p>
          <a:p>
            <a:pPr lvl="1">
              <a:defRPr sz="1400"/>
            </a:pPr>
            <a:r>
              <a:t>Syntaxe : CREATE TABLE nom (colonne1 type, colonne2 type);</a:t>
            </a:r>
          </a:p>
          <a:p>
            <a:pPr lvl="1">
              <a:defRPr sz="1400"/>
            </a:pPr>
            <a:r>
              <a:t>Contraintes : NOT NULL, PRIMARY KEY, UNIQUE, CHECK(condition).</a:t>
            </a:r>
          </a:p>
          <a:p>
            <a:pPr>
              <a:defRPr b="1" sz="1800">
                <a:solidFill>
                  <a:srgbClr val="282828"/>
                </a:solidFill>
              </a:defRPr>
            </a:pPr>
            <a:r>
              <a:t>Modification</a:t>
            </a:r>
          </a:p>
          <a:p>
            <a:pPr lvl="1">
              <a:defRPr sz="1400"/>
            </a:pPr>
            <a:r>
              <a:t>ALTER TABLE : Ajouter, supprimer des colonnes ou des contraintes.</a:t>
            </a:r>
          </a:p>
          <a:p>
            <a:pPr lvl="1">
              <a:defRPr sz="1400"/>
            </a:pPr>
            <a:r>
              <a:t>DROP TABLE : Supprimer une table.</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Capture d'écran de l'interface DBeaver connectée à une base PostgreSQL.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9. Le Langage SQL : Manipulation des Données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Insertion</a:t>
            </a:r>
          </a:p>
          <a:p>
            <a:pPr lvl="1">
              <a:defRPr sz="1400"/>
            </a:pPr>
            <a:r>
              <a:t>INSERT INTO table (col1, col2) VALUES (val1, val2);</a:t>
            </a:r>
          </a:p>
          <a:p>
            <a:pPr>
              <a:defRPr b="1" sz="1800">
                <a:solidFill>
                  <a:srgbClr val="282828"/>
                </a:solidFill>
              </a:defRPr>
            </a:pPr>
            <a:r>
              <a:t>Modification</a:t>
            </a:r>
          </a:p>
          <a:p>
            <a:pPr lvl="1">
              <a:defRPr sz="1400"/>
            </a:pPr>
            <a:r>
              <a:t>UPDATE table SET col1 = val1 WHERE condition;</a:t>
            </a:r>
          </a:p>
          <a:p>
            <a:pPr>
              <a:defRPr b="1" sz="1800">
                <a:solidFill>
                  <a:srgbClr val="282828"/>
                </a:solidFill>
              </a:defRPr>
            </a:pPr>
            <a:r>
              <a:t>Suppression</a:t>
            </a:r>
          </a:p>
          <a:p>
            <a:pPr lvl="1">
              <a:defRPr sz="1400"/>
            </a:pPr>
            <a:r>
              <a:t>DELETE FROM table WHERE condition;</a:t>
            </a:r>
          </a:p>
          <a:p>
            <a:pPr>
              <a:defRPr b="1" sz="1800">
                <a:solidFill>
                  <a:srgbClr val="ED1C24"/>
                </a:solidFill>
              </a:defRPr>
            </a:pPr>
            <a:r>
              <a:t>Qualité de Données (LinkedIn Learning)</a:t>
            </a:r>
          </a:p>
          <a:p>
            <a:pPr lvl="1">
              <a:defRPr sz="1400"/>
            </a:pPr>
            <a:r>
              <a:t>Le SQL est indispensable pour le nettoyage (Data Wrangling).</a:t>
            </a:r>
          </a:p>
          <a:p>
            <a:pPr lvl="1">
              <a:defRPr sz="1400"/>
            </a:pPr>
            <a:r>
              <a:t>Permet de gérer massivement les formats mixtes ou les données manquantes (NULL).</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Code snippet : Une requête UPDATE corrigeant une faute de frappe dans un dataset sale.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10. Le Langage SQL : Requêtes d'Analyse (1/2)</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Projection et Sélection</a:t>
            </a:r>
          </a:p>
          <a:p>
            <a:pPr lvl="1">
              <a:defRPr sz="1400"/>
            </a:pPr>
            <a:r>
              <a:t>SELECT col1, col2 FROM table WHERE condition;</a:t>
            </a:r>
          </a:p>
          <a:p>
            <a:pPr lvl="1">
              <a:defRPr sz="1400"/>
            </a:pPr>
            <a:r>
              <a:t>Utilisation de l'opérateur LIKE avec '%' pour les recherches textuelles.</a:t>
            </a:r>
          </a:p>
          <a:p>
            <a:pPr>
              <a:defRPr b="1" sz="1800">
                <a:solidFill>
                  <a:srgbClr val="ED1C24"/>
                </a:solidFill>
              </a:defRPr>
            </a:pPr>
            <a:r>
              <a:t>La Jointure (JOIN)</a:t>
            </a:r>
          </a:p>
          <a:p>
            <a:pPr lvl="1">
              <a:defRPr sz="1400"/>
            </a:pPr>
            <a:r>
              <a:t>Pour relier les données de plusieurs tables.</a:t>
            </a:r>
          </a:p>
          <a:p>
            <a:pPr lvl="1">
              <a:defRPr sz="1400"/>
            </a:pPr>
            <a:r>
              <a:t>SELECT * FROM tableA JOIN tableB ON tableA.id = tableB.fk_id;</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Un schéma d'ensembles de Venn montrant le fonctionnement d'une Jointure (l'intersection).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12. L'Analyse Data avec SQL : Agrégations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Agrégations Classiques</a:t>
            </a:r>
          </a:p>
          <a:p>
            <a:pPr lvl="1">
              <a:defRPr sz="1400"/>
            </a:pPr>
            <a:r>
              <a:t>COUNT(), AVG(), SUM(), MIN(), MAX().</a:t>
            </a:r>
          </a:p>
          <a:p>
            <a:pPr lvl="1">
              <a:defRPr sz="1400"/>
            </a:pPr>
            <a:r>
              <a:t>Le GROUP BY : Réduction de dimensionnalité pour les KPIs.</a:t>
            </a:r>
          </a:p>
          <a:p>
            <a:pPr lvl="1">
              <a:defRPr sz="1400"/>
            </a:pPr>
            <a:r>
              <a:t>Le HAVING : Filtrer *après* l'agrégation (contrairement au WHERE).</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Concept du GROUP BY: Des données brutes de différentes couleurs séparées dans des 'seaux' (Buckets) colorés.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457200"/>
            <a:ext cx="8229600" cy="914400"/>
          </a:xfrm>
          <a:prstGeom prst="rect">
            <a:avLst/>
          </a:prstGeom>
          <a:noFill/>
        </p:spPr>
        <p:txBody>
          <a:bodyPr wrap="none">
            <a:spAutoFit/>
          </a:bodyPr>
          <a:lstStyle/>
          <a:p>
            <a:pPr algn="l">
              <a:defRPr sz="2600" b="1">
                <a:solidFill>
                  <a:srgbClr val="ED1C24"/>
                </a:solidFill>
                <a:latin typeface="Calibri"/>
              </a:defRPr>
            </a:pPr>
            <a:r>
              <a:t>13. Advanced SQL : CTEs &amp; Window Functions</a:t>
            </a:r>
          </a:p>
        </p:txBody>
      </p:sp>
      <p:sp>
        <p:nvSpPr>
          <p:cNvPr id="4" name="TextBox 3"/>
          <p:cNvSpPr txBox="1"/>
          <p:nvPr/>
        </p:nvSpPr>
        <p:spPr>
          <a:xfrm>
            <a:off x="457200" y="1371600"/>
            <a:ext cx="4572000" cy="4572000"/>
          </a:xfrm>
          <a:prstGeom prst="rect">
            <a:avLst/>
          </a:prstGeom>
          <a:noFill/>
        </p:spPr>
        <p:txBody>
          <a:bodyPr wrap="square">
            <a:spAutoFit/>
          </a:bodyPr>
          <a:lstStyle/>
          <a:p/>
          <a:p>
            <a:pPr>
              <a:defRPr b="1" sz="1800">
                <a:solidFill>
                  <a:srgbClr val="282828"/>
                </a:solidFill>
              </a:defRPr>
            </a:pPr>
            <a:r>
              <a:t>Common Table Expressions (CTEs)</a:t>
            </a:r>
          </a:p>
          <a:p>
            <a:pPr lvl="1">
              <a:defRPr sz="1400"/>
            </a:pPr>
            <a:r>
              <a:t>La clause WITH : Remplace les sous-requêtes imbriquées illisibles.</a:t>
            </a:r>
          </a:p>
          <a:p>
            <a:pPr lvl="1">
              <a:defRPr sz="1400"/>
            </a:pPr>
            <a:r>
              <a:t>Rend le code SQL modulaire, lisible et maintenable.</a:t>
            </a:r>
          </a:p>
          <a:p>
            <a:pPr>
              <a:defRPr b="1" sz="1800">
                <a:solidFill>
                  <a:srgbClr val="ED1C24"/>
                </a:solidFill>
              </a:defRPr>
            </a:pPr>
            <a:r>
              <a:t>Window Functions (Analyse Statistique)</a:t>
            </a:r>
          </a:p>
          <a:p>
            <a:pPr lvl="1">
              <a:defRPr sz="1400"/>
            </a:pPr>
            <a:r>
              <a:t>Syntaxe : Fonction OVER (PARTITION BY ... ORDER BY ...).</a:t>
            </a:r>
          </a:p>
          <a:p>
            <a:pPr lvl="1">
              <a:defRPr sz="1400"/>
            </a:pPr>
            <a:r>
              <a:t>Calculs complexes (Rangs, Totaux cumulés, Moyennes mobiles) *sans* écraser le niveau de détail des lignes.</a:t>
            </a:r>
          </a:p>
          <a:p>
            <a:pPr lvl="1">
              <a:defRPr sz="1400"/>
            </a:pPr>
            <a:r>
              <a:t>Fonctions analytiques clés : ROW_NUMBER(), RANK(), LAG(), LEAD().</a:t>
            </a:r>
          </a:p>
        </p:txBody>
      </p:sp>
      <p:sp>
        <p:nvSpPr>
          <p:cNvPr id="5" name="Rectangle 4"/>
          <p:cNvSpPr/>
          <p:nvPr/>
        </p:nvSpPr>
        <p:spPr>
          <a:xfrm>
            <a:off x="5486400" y="1371600"/>
            <a:ext cx="3200400" cy="4572000"/>
          </a:xfrm>
          <a:prstGeom prst="rect">
            <a:avLst/>
          </a:prstGeom>
          <a:solidFill>
            <a:srgbClr val="FFFFFF"/>
          </a:solidFill>
          <a:ln w="25400">
            <a:solidFill>
              <a:srgbClr val="ED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282828"/>
                </a:solidFill>
                <a:latin typeface="Calibri"/>
              </a:defRPr>
            </a:pPr>
            <a:r>
              <a:t>[VISUEL KADEA]</a:t>
            </a:r>
            <a:br/>
            <a:r>
              <a:t>Comparatif visuel : GROUP BY (écrase les lignes) vs OVER (maintient les lignes d'origine mais ajoute une colonne de calcul).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