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DC143C"/>
                </a:solidFill>
                <a:latin typeface="Arial"/>
              </a:defRPr>
            </a:pPr>
            <a:r>
              <a:t>The Data Journey – De l'Excel au Big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96969"/>
                </a:solidFill>
                <a:latin typeface="Calibri"/>
              </a:defRPr>
            </a:pPr>
            <a:r>
              <a:t>Du tableur à l'architecture de données moderne.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114800"/>
            <a:ext cx="1371600" cy="914400"/>
          </a:xfrm>
          <a:prstGeom prst="rect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Excel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297680" y="4389120"/>
            <a:ext cx="914400" cy="365760"/>
          </a:xfrm>
          <a:prstGeom prst="rightArrow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n 5"/>
          <p:cNvSpPr/>
          <p:nvPr/>
        </p:nvSpPr>
        <p:spPr>
          <a:xfrm>
            <a:off x="5486400" y="3840480"/>
            <a:ext cx="1371600" cy="1371600"/>
          </a:xfrm>
          <a:prstGeom prst="can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Base de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Où en sommes-nous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Semaine 1-2 : Saisie de données.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Semaine 3 : Organisation &amp; Tri (Excel).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Objectif : Devenir Gestionnaire de Données.</a:t>
            </a:r>
          </a:p>
        </p:txBody>
      </p:sp>
      <p:sp>
        <p:nvSpPr>
          <p:cNvPr id="4" name="Smiley Face 3"/>
          <p:cNvSpPr/>
          <p:nvPr/>
        </p:nvSpPr>
        <p:spPr>
          <a:xfrm>
            <a:off x="5943600" y="1828800"/>
            <a:ext cx="1371600" cy="1371600"/>
          </a:xfrm>
          <a:prstGeom prst="smileyFace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5943600" y="3657600"/>
            <a:ext cx="457200" cy="457200"/>
          </a:xfrm>
          <a:prstGeom prst="rightArrow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4572000"/>
            <a:ext cx="2286000" cy="1371600"/>
          </a:xfrm>
          <a:prstGeom prst="rect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Est-ce qu'Excel est une Base de Données 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2860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EXCEL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Oui, &lt; 1M lignes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Analyse Visuelle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Risque: Pas de sécurité</a:t>
            </a:r>
          </a:p>
        </p:txBody>
      </p:sp>
      <p:sp>
        <p:nvSpPr>
          <p:cNvPr id="5" name="Can 4"/>
          <p:cNvSpPr/>
          <p:nvPr/>
        </p:nvSpPr>
        <p:spPr>
          <a:xfrm>
            <a:off x="3200400" y="1828800"/>
            <a:ext cx="2286000" cy="3657600"/>
          </a:xfrm>
          <a:prstGeom prst="can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2286000"/>
            <a:ext cx="21031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>
                <a:solidFill>
                  <a:srgbClr val="FFFFFF"/>
                </a:solidFill>
              </a:defRPr>
            </a:pPr>
            <a:r>
              <a:t>SQL (Relationnel)</a:t>
            </a:r>
            <a:br/>
            <a:br/>
            <a:r>
              <a:t>La Rigueur</a:t>
            </a:r>
            <a:br/>
            <a:r>
              <a:t>Sécurité</a:t>
            </a:r>
            <a:br/>
            <a:r>
              <a:t>Cohérence Bancaire</a:t>
            </a:r>
          </a:p>
        </p:txBody>
      </p:sp>
      <p:sp>
        <p:nvSpPr>
          <p:cNvPr id="7" name="Cloud 6"/>
          <p:cNvSpPr/>
          <p:nvPr/>
        </p:nvSpPr>
        <p:spPr>
          <a:xfrm>
            <a:off x="5943600" y="1828800"/>
            <a:ext cx="2743200" cy="3657600"/>
          </a:xfrm>
          <a:prstGeom prst="cloud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>
                <a:solidFill>
                  <a:srgbClr val="FFFFFF"/>
                </a:solidFill>
              </a:defRPr>
            </a:pPr>
            <a:r>
              <a:t>NoSQL (Big Data)</a:t>
            </a:r>
            <a:br/>
            <a:br/>
            <a:r>
              <a:t>La Vitesse</a:t>
            </a:r>
            <a:br/>
            <a:r>
              <a:t>Volume Massif</a:t>
            </a:r>
            <a:br/>
            <a:r>
              <a:t>Flexibilité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De l'Archive Papier au Cloud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57200" y="3657600"/>
            <a:ext cx="8229600" cy="457200"/>
          </a:xfrm>
          <a:prstGeom prst="rightArrow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olded Corner 3"/>
          <p:cNvSpPr/>
          <p:nvPr/>
        </p:nvSpPr>
        <p:spPr>
          <a:xfrm>
            <a:off x="914400" y="2286000"/>
            <a:ext cx="1371600" cy="1097280"/>
          </a:xfrm>
          <a:prstGeom prst="foldedCorner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Avant 1960</a:t>
            </a:r>
          </a:p>
          <a:p>
            <a:r>
              <a:t>Papier</a:t>
            </a:r>
          </a:p>
        </p:txBody>
      </p:sp>
      <p:sp>
        <p:nvSpPr>
          <p:cNvPr id="5" name="Can 4"/>
          <p:cNvSpPr/>
          <p:nvPr/>
        </p:nvSpPr>
        <p:spPr>
          <a:xfrm>
            <a:off x="3657600" y="2286000"/>
            <a:ext cx="1371600" cy="1097280"/>
          </a:xfrm>
          <a:prstGeom prst="can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1970</a:t>
            </a:r>
          </a:p>
          <a:p>
            <a:r>
              <a:t>SQL (Banque)</a:t>
            </a:r>
          </a:p>
        </p:txBody>
      </p:sp>
      <p:sp>
        <p:nvSpPr>
          <p:cNvPr id="6" name="Cloud 5"/>
          <p:cNvSpPr/>
          <p:nvPr/>
        </p:nvSpPr>
        <p:spPr>
          <a:xfrm>
            <a:off x="6400800" y="2286000"/>
            <a:ext cx="1371600" cy="1097280"/>
          </a:xfrm>
          <a:prstGeom prst="cloud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2000+</a:t>
            </a:r>
          </a:p>
          <a:p>
            <a:r>
              <a:t>NoSQL (Web)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Le Monde Carré du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Structure : Tables, Lignes, Colonnes.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Force : Intégrité (ACID).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Usage : Finance, RH, ERP.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1371600" cy="1828800"/>
          </a:xfrm>
          <a:prstGeom prst="rect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Table 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3657600"/>
            <a:ext cx="1371600" cy="1828800"/>
          </a:xfrm>
          <a:prstGeom prst="rect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Table 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72200" y="2743200"/>
            <a:ext cx="182880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NoSQL : Orienté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Format : JSON / XML (Hiérarchique).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Usage : Profils utilisateurs, Web.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Exemple : MongoDB.</a:t>
            </a:r>
          </a:p>
        </p:txBody>
      </p:sp>
      <p:sp>
        <p:nvSpPr>
          <p:cNvPr id="4" name="Folded Corner 3"/>
          <p:cNvSpPr/>
          <p:nvPr/>
        </p:nvSpPr>
        <p:spPr>
          <a:xfrm>
            <a:off x="5943600" y="2286000"/>
            <a:ext cx="1828800" cy="2286000"/>
          </a:xfrm>
          <a:prstGeom prst="foldedCorner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{ JSON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NoSQL : Clé-Valeur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Concept : Une étiquette = Une donnée.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Usage : Paniers, Sessions, Cache.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Exemple : Redis.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743200"/>
            <a:ext cx="914400" cy="914400"/>
          </a:xfrm>
          <a:prstGeom prst="rect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KEY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492240" y="2926080"/>
            <a:ext cx="731520" cy="457200"/>
          </a:xfrm>
          <a:prstGeom prst="rightArrow">
            <a:avLst/>
          </a:prstGeom>
          <a:solidFill>
            <a:srgbClr val="000000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ube 5"/>
          <p:cNvSpPr/>
          <p:nvPr/>
        </p:nvSpPr>
        <p:spPr>
          <a:xfrm>
            <a:off x="7315200" y="2286000"/>
            <a:ext cx="1371600" cy="1371600"/>
          </a:xfrm>
          <a:prstGeom prst="cube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NoSQL : Orienté Colonnes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Concept : Lecture massive d'une info.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Usage : Logs Telco, Bourse.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Exemple : Cassandra.</a:t>
            </a:r>
          </a:p>
        </p:txBody>
      </p:sp>
      <p:sp>
        <p:nvSpPr>
          <p:cNvPr id="4" name="Can 3"/>
          <p:cNvSpPr/>
          <p:nvPr/>
        </p:nvSpPr>
        <p:spPr>
          <a:xfrm>
            <a:off x="6400800" y="1828800"/>
            <a:ext cx="1371600" cy="3657600"/>
          </a:xfrm>
          <a:prstGeom prst="can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92240" y="2286000"/>
            <a:ext cx="1188720" cy="9144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3200400"/>
            <a:ext cx="1188720" cy="9144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4114800"/>
            <a:ext cx="1188720" cy="9144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NoSQL : Orienté Graphes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Concept : Tout est connecté.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Usage : Réseaux sociaux, Fraude.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Exemple : Neo4j.</a:t>
            </a:r>
          </a:p>
        </p:txBody>
      </p:sp>
      <p:sp>
        <p:nvSpPr>
          <p:cNvPr id="4" name="Oval 3"/>
          <p:cNvSpPr/>
          <p:nvPr/>
        </p:nvSpPr>
        <p:spPr>
          <a:xfrm>
            <a:off x="5486400" y="1828800"/>
            <a:ext cx="731520" cy="731520"/>
          </a:xfrm>
          <a:prstGeom prst="ellipse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2743200"/>
            <a:ext cx="731520" cy="731520"/>
          </a:xfrm>
          <a:prstGeom prst="ellipse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0" y="4572000"/>
            <a:ext cx="731520" cy="731520"/>
          </a:xfrm>
          <a:prstGeom prst="ellipse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852160" y="2194560"/>
            <a:ext cx="18288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766560" y="3108960"/>
            <a:ext cx="91440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852160" y="2194560"/>
            <a:ext cx="914400" cy="274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Le Voyage de la Donnée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2743200"/>
            <a:ext cx="1828800" cy="914400"/>
          </a:xfrm>
          <a:prstGeom prst="chevron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1. Collecte</a:t>
            </a:r>
          </a:p>
        </p:txBody>
      </p:sp>
      <p:sp>
        <p:nvSpPr>
          <p:cNvPr id="4" name="Chevron 3"/>
          <p:cNvSpPr/>
          <p:nvPr/>
        </p:nvSpPr>
        <p:spPr>
          <a:xfrm>
            <a:off x="2560320" y="2743200"/>
            <a:ext cx="1828800" cy="914400"/>
          </a:xfrm>
          <a:prstGeom prst="chevron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2. Stockage</a:t>
            </a:r>
          </a:p>
        </p:txBody>
      </p:sp>
      <p:sp>
        <p:nvSpPr>
          <p:cNvPr id="5" name="Chevron 4"/>
          <p:cNvSpPr/>
          <p:nvPr/>
        </p:nvSpPr>
        <p:spPr>
          <a:xfrm>
            <a:off x="4663440" y="2743200"/>
            <a:ext cx="1828800" cy="914400"/>
          </a:xfrm>
          <a:prstGeom prst="chevron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3. ETL</a:t>
            </a:r>
          </a:p>
        </p:txBody>
      </p:sp>
      <p:sp>
        <p:nvSpPr>
          <p:cNvPr id="6" name="Chevron 5"/>
          <p:cNvSpPr/>
          <p:nvPr/>
        </p:nvSpPr>
        <p:spPr>
          <a:xfrm>
            <a:off x="6766560" y="2743200"/>
            <a:ext cx="1828800" cy="914400"/>
          </a:xfrm>
          <a:prstGeom prst="chevron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4. Visu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Les 4 Commandements (CRUD)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1371600" cy="1371600"/>
          </a:xfrm>
          <a:prstGeom prst="roundRect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C</a:t>
            </a:r>
          </a:p>
          <a:p>
            <a:r>
              <a:t>Create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743200"/>
            <a:ext cx="1371600" cy="1371600"/>
          </a:xfrm>
          <a:prstGeom prst="roundRect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R</a:t>
            </a:r>
          </a:p>
          <a:p>
            <a:r>
              <a:t>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743200"/>
            <a:ext cx="1371600" cy="1371600"/>
          </a:xfrm>
          <a:prstGeom prst="roundRect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U</a:t>
            </a:r>
          </a:p>
          <a:p>
            <a:r>
              <a:t>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743200"/>
            <a:ext cx="1371600" cy="1371600"/>
          </a:xfrm>
          <a:prstGeom prst="roundRect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D</a:t>
            </a:r>
          </a:p>
          <a:p>
            <a:r>
              <a:t>Delete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Parler le Langage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ISO 8601 : YYYY-MM-DD.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Atomicité : Une cellule = Une info.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Pas de 'Paris, France' -&gt; Deux colonnes !</a:t>
            </a:r>
          </a:p>
        </p:txBody>
      </p:sp>
      <p:sp>
        <p:nvSpPr>
          <p:cNvPr id="4" name="Plaque 3"/>
          <p:cNvSpPr/>
          <p:nvPr/>
        </p:nvSpPr>
        <p:spPr>
          <a:xfrm>
            <a:off x="6400800" y="2743200"/>
            <a:ext cx="1828800" cy="1371600"/>
          </a:xfrm>
          <a:prstGeom prst="plaque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YYYY-MM-DD</a:t>
            </a:r>
          </a:p>
          <a:p>
            <a:r>
              <a:t>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Le Piège des Noms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Problème : Homonymes (Jean Dupont).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Solution : Clé Primaire (ID #12345).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Règle : Ne jamais se fier au texte.</a:t>
            </a:r>
          </a:p>
        </p:txBody>
      </p:sp>
      <p:sp>
        <p:nvSpPr>
          <p:cNvPr id="4" name="Smiley Face 3"/>
          <p:cNvSpPr/>
          <p:nvPr/>
        </p:nvSpPr>
        <p:spPr>
          <a:xfrm>
            <a:off x="5486400" y="2743200"/>
            <a:ext cx="914400" cy="914400"/>
          </a:xfrm>
          <a:prstGeom prst="smileyFace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miley Face 4"/>
          <p:cNvSpPr/>
          <p:nvPr/>
        </p:nvSpPr>
        <p:spPr>
          <a:xfrm>
            <a:off x="6858000" y="2743200"/>
            <a:ext cx="914400" cy="914400"/>
          </a:xfrm>
          <a:prstGeom prst="smileyFace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3840480"/>
            <a:ext cx="914400" cy="457200"/>
          </a:xfrm>
          <a:prstGeom prst="rect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#001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3840480"/>
            <a:ext cx="914400" cy="457200"/>
          </a:xfrm>
          <a:prstGeom prst="rect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#002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Ne Confondez Pas !</a:t>
            </a:r>
          </a:p>
        </p:txBody>
      </p:sp>
      <p:sp>
        <p:nvSpPr>
          <p:cNvPr id="3" name="Up Arrow Callout 2"/>
          <p:cNvSpPr/>
          <p:nvPr/>
        </p:nvSpPr>
        <p:spPr>
          <a:xfrm>
            <a:off x="914400" y="2743200"/>
            <a:ext cx="2743200" cy="1828800"/>
          </a:xfrm>
          <a:prstGeom prst="upArrowCallout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TRIER</a:t>
            </a:r>
          </a:p>
          <a:p>
            <a:r>
              <a:t>Organiser l'ordre.</a:t>
            </a:r>
          </a:p>
          <a:p>
            <a:r>
              <a:t>Ne cache rien.</a:t>
            </a:r>
          </a:p>
        </p:txBody>
      </p:sp>
      <p:sp>
        <p:nvSpPr>
          <p:cNvPr id="4" name="Funnel 3"/>
          <p:cNvSpPr/>
          <p:nvPr/>
        </p:nvSpPr>
        <p:spPr>
          <a:xfrm>
            <a:off x="4572000" y="2743200"/>
            <a:ext cx="1828800" cy="1828800"/>
          </a:xfrm>
          <a:prstGeom prst="funnel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FILTRER</a:t>
            </a:r>
          </a:p>
          <a:p>
            <a:r>
              <a:t>Masquer.</a:t>
            </a:r>
          </a:p>
          <a:p>
            <a:r>
              <a:t>Risque d'oubli 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Garbage In, Garbage Out</a:t>
            </a:r>
          </a:p>
        </p:txBody>
      </p:sp>
      <p:sp>
        <p:nvSpPr>
          <p:cNvPr id="3" name="Can 2"/>
          <p:cNvSpPr/>
          <p:nvPr/>
        </p:nvSpPr>
        <p:spPr>
          <a:xfrm>
            <a:off x="914400" y="2743200"/>
            <a:ext cx="1371600" cy="1828800"/>
          </a:xfrm>
          <a:prstGeom prst="can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Trash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43200" y="3200400"/>
            <a:ext cx="914400" cy="457200"/>
          </a:xfrm>
          <a:prstGeom prst="rightArrow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ear 6 4"/>
          <p:cNvSpPr/>
          <p:nvPr/>
        </p:nvSpPr>
        <p:spPr>
          <a:xfrm>
            <a:off x="4114800" y="2743200"/>
            <a:ext cx="1828800" cy="1828800"/>
          </a:xfrm>
          <a:prstGeom prst="gear6">
            <a:avLst/>
          </a:prstGeom>
          <a:solidFill>
            <a:srgbClr val="000000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Process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400800" y="3200400"/>
            <a:ext cx="914400" cy="457200"/>
          </a:xfrm>
          <a:prstGeom prst="rightArrow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 6"/>
          <p:cNvSpPr/>
          <p:nvPr/>
        </p:nvSpPr>
        <p:spPr>
          <a:xfrm>
            <a:off x="7772400" y="2743200"/>
            <a:ext cx="1371600" cy="1828800"/>
          </a:xfrm>
          <a:prstGeom prst="can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Trash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Danger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Cellules fusionnées (Cauchemar).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Formats mixtes (12 vs '12').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Pas de Backup.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6400800" y="1828800"/>
            <a:ext cx="1828800" cy="1828800"/>
          </a:xfrm>
          <a:prstGeom prst="triangle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Pour Aller Plus Loin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Doc Microsoft Excel.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Tutos SQL pour débutants.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Bonnes pratiques de nettoyage.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DC143C"/>
                </a:solidFill>
                <a:latin typeface="Arial"/>
              </a:defRPr>
            </a:pPr>
            <a:r>
              <a:t>Questions ?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3657600" y="2743200"/>
            <a:ext cx="2743200" cy="1828800"/>
          </a:xfrm>
          <a:prstGeom prst="wedgeRoundRectCallout">
            <a:avLst/>
          </a:prstGeom>
          <a:solidFill>
            <a:srgbClr val="DC143C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