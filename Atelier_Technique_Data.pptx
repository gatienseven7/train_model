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>
                <a:solidFill>
                  <a:srgbClr val="003399"/>
                </a:solidFill>
                <a:latin typeface="Arial"/>
              </a:defRPr>
            </a:pPr>
            <a:r>
              <a:t>Atelier Technique : Data Expert &amp; SQL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FF8C00"/>
                </a:solidFill>
                <a:latin typeface="Calibri"/>
              </a:defRPr>
            </a:pPr>
            <a:r>
              <a:t>Excel Expert (VBA, Power Query) &amp; CRUD SQL/NoSQL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>
                <a:solidFill>
                  <a:srgbClr val="003399"/>
                </a:solidFill>
                <a:latin typeface="Arial"/>
              </a:defRPr>
            </a:pPr>
            <a:r>
              <a:t>Au Programme (3h30)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1. Tri &amp; Filtres Avancés (Multi-critères, Slicers)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2. Croiser les données : VLOOKUP vs Power Query Merge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3. Automatisation : Intro VBA &amp; Google AppScript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4. Le langage M (Power Query) pour les cas complexes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5. SQL Jointures (JOIN) vs NoSQL Imbrication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6. Atelier Pratique : Gestion de Clients Telco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>
                <a:solidFill>
                  <a:srgbClr val="003399"/>
                </a:solidFill>
                <a:latin typeface="Arial"/>
              </a:defRPr>
            </a:pPr>
            <a:r>
              <a:t>Tri Multi-Niveaux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Le Tri simple (A-Z) ne suffit pas.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Cas réel : Trier par Région, PUIS par Offre, PUIS par Nom.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Outil : Données &gt; Trier (Custom Sort).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Astuce : On peut trier par couleur ou icône !</a:t>
            </a:r>
          </a:p>
        </p:txBody>
      </p:sp>
      <p:sp>
        <p:nvSpPr>
          <p:cNvPr id="4" name="Down Arrow 3"/>
          <p:cNvSpPr/>
          <p:nvPr/>
        </p:nvSpPr>
        <p:spPr>
          <a:xfrm>
            <a:off x="6400800" y="1828800"/>
            <a:ext cx="914400" cy="2743200"/>
          </a:xfrm>
          <a:prstGeom prst="downArrow">
            <a:avLst/>
          </a:prstGeom>
          <a:solidFill>
            <a:srgbClr val="003399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1. Region</a:t>
            </a:r>
          </a:p>
          <a:p>
            <a:r>
              <a:t>2. Offre</a:t>
            </a:r>
          </a:p>
          <a:p>
            <a:r>
              <a:t>3. Nom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>
                <a:solidFill>
                  <a:srgbClr val="003399"/>
                </a:solidFill>
                <a:latin typeface="Arial"/>
              </a:defRPr>
            </a:pPr>
            <a:r>
              <a:t>Filtres Avancés (Criteria Range)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Pour des conditions complexes (ET / OU).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Nécessite une 'Zone de critères' séparée.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Permet d'extraire les données vers une autre feuille.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Alternative moderne : Fonction FILTER() (Office 365).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114800"/>
            <a:ext cx="7315200" cy="2286000"/>
          </a:xfrm>
          <a:prstGeom prst="rect">
            <a:avLst/>
          </a:prstGeom>
          <a:solidFill>
            <a:srgbClr val="C8C8C8"/>
          </a:solidFill>
          <a:ln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646464"/>
                </a:solidFill>
              </a:defRPr>
            </a:pPr>
            <a:r>
              <a:t>[Capture d'écran : Boîte de dialogue 'Filtre Avancé' avec Plage et Critères]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>
                <a:solidFill>
                  <a:srgbClr val="003399"/>
                </a:solidFill>
                <a:latin typeface="Arial"/>
              </a:defRPr>
            </a:pPr>
            <a:r>
              <a:t>Power Query : Langage 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Derrière chaque clic, Power Query écrit du code M.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On peut l'éditer pour des calculs complexes.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Exemple : Date.FromText([DateString])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Exemple : Text.Select([Phone], {'0'..'9'})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3657600"/>
          </a:xfrm>
          <a:prstGeom prst="rect">
            <a:avLst/>
          </a:prstGeom>
          <a:solidFill>
            <a:srgbClr val="F0F0F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000000"/>
                </a:solidFill>
                <a:latin typeface="Consolas"/>
              </a:defRPr>
            </a:pPr>
            <a:r>
              <a:t>let</a:t>
            </a:r>
            <a:br/>
            <a:r>
              <a:t>  Source = Excel.CurrentWorkbook(){[Name='Table1']}[Content],</a:t>
            </a:r>
            <a:br/>
            <a:r>
              <a:t>  ChangedType = Table.TransformColumnTypes(Source,{{'Date', type date}}),</a:t>
            </a:r>
            <a:br/>
            <a:r>
              <a:t>  FilteredRows = Table.SelectRows(ChangedType, each ([Montant] &gt; 100))</a:t>
            </a:r>
            <a:br/>
            <a:r>
              <a:t>in</a:t>
            </a:r>
            <a:br/>
            <a:r>
              <a:t>  FilteredRows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>
                <a:solidFill>
                  <a:srgbClr val="003399"/>
                </a:solidFill>
                <a:latin typeface="Arial"/>
              </a:defRPr>
            </a:pPr>
            <a:r>
              <a:t>Automatisation : Le Duel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3657600" cy="3657600"/>
          </a:xfrm>
          <a:prstGeom prst="rect">
            <a:avLst/>
          </a:prstGeom>
          <a:solidFill>
            <a:srgbClr val="003399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VBA (Excel)</a:t>
            </a:r>
          </a:p>
          <a:p/>
          <a:p>
            <a:r>
              <a:t>Ancien mais robuste.</a:t>
            </a:r>
          </a:p>
          <a:p>
            <a:r>
              <a:t>Local (Desktop).</a:t>
            </a:r>
          </a:p>
          <a:p>
            <a:r>
              <a:t>Langage : Visual Basic.</a:t>
            </a:r>
          </a:p>
          <a:p>
            <a:r>
              <a:t>Idéal pour formulaires UserForm.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828800"/>
            <a:ext cx="3657600" cy="3657600"/>
          </a:xfrm>
          <a:prstGeom prst="rect">
            <a:avLst/>
          </a:prstGeom>
          <a:solidFill>
            <a:srgbClr val="FF8C0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AppScript (Google)</a:t>
            </a:r>
          </a:p>
          <a:p/>
          <a:p>
            <a:r>
              <a:t>Moderne (Cloud).</a:t>
            </a:r>
          </a:p>
          <a:p>
            <a:r>
              <a:t>Web (Browser).</a:t>
            </a:r>
          </a:p>
          <a:p>
            <a:r>
              <a:t>Langage : JavaScript.</a:t>
            </a:r>
          </a:p>
          <a:p>
            <a:r>
              <a:t>Idéal pour connecteurs (Gmail, Drive).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>
                <a:solidFill>
                  <a:srgbClr val="003399"/>
                </a:solidFill>
                <a:latin typeface="Arial"/>
              </a:defRPr>
            </a:pPr>
            <a:r>
              <a:t>Google Sheets : QUERY()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La puissance du SQL directement dans le tableur.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Plus flexible que les TCD (Tableaux Croisés Dynamiques).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Syntaxe : =QUERY(Données; 'SELECT A, SUM(B) GROUP BY A'; 1)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7315200" cy="1828800"/>
          </a:xfrm>
          <a:prstGeom prst="rect">
            <a:avLst/>
          </a:prstGeom>
          <a:solidFill>
            <a:srgbClr val="F0F0F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000000"/>
                </a:solidFill>
                <a:latin typeface="Consolas"/>
              </a:defRPr>
            </a:pPr>
            <a:r>
              <a:t>=QUERY(A1:D100; </a:t>
            </a:r>
            <a:br/>
            <a:r>
              <a:t>  "SELECT A, AVG(C) </a:t>
            </a:r>
            <a:br/>
            <a:r>
              <a:t>   WHERE D = 'Actif' </a:t>
            </a:r>
            <a:br/>
            <a:r>
              <a:t>   GROUP BY A </a:t>
            </a:r>
            <a:br/>
            <a:r>
              <a:t>   LABEL AVG(C) 'Moyenne'")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>
                <a:solidFill>
                  <a:srgbClr val="003399"/>
                </a:solidFill>
                <a:latin typeface="Arial"/>
              </a:defRPr>
            </a:pPr>
            <a:r>
              <a:t>SQL : Les Jointures (JOIN)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1828800" cy="1371600"/>
          </a:xfrm>
          <a:prstGeom prst="rect">
            <a:avLst/>
          </a:prstGeom>
          <a:solidFill>
            <a:srgbClr val="003399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Table Clients</a:t>
            </a:r>
          </a:p>
          <a:p>
            <a:r>
              <a:t>(ID_Offre)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743200"/>
            <a:ext cx="1828800" cy="1371600"/>
          </a:xfrm>
          <a:prstGeom prst="rect">
            <a:avLst/>
          </a:prstGeom>
          <a:solidFill>
            <a:srgbClr val="50505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Table Offres</a:t>
            </a:r>
          </a:p>
          <a:p>
            <a:r>
              <a:t>(ID_Offre)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43200" y="3429000"/>
            <a:ext cx="18288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45720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INNER JOIN : Prend l'intersection des deux tables basées sur une clé commune.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>
                <a:solidFill>
                  <a:srgbClr val="003399"/>
                </a:solidFill>
                <a:latin typeface="Arial"/>
              </a:defRPr>
            </a:pPr>
            <a:r>
              <a:t>NoSQL : Pas de JOIN 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En NoSQL, on évite les relations complexes.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On préfère imbriquer les données (Embedding).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Avantage : Lecture ultra-rapide (1 seul accès disque).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Inconvénient : Duplication de données.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2286000"/>
            <a:ext cx="2743200" cy="2743200"/>
          </a:xfrm>
          <a:prstGeom prst="rect">
            <a:avLst/>
          </a:prstGeom>
          <a:solidFill>
            <a:srgbClr val="F0F0F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000000"/>
                </a:solidFill>
                <a:latin typeface="Consolas"/>
              </a:defRPr>
            </a:pPr>
            <a:r>
              <a:t>{</a:t>
            </a:r>
            <a:br/>
            <a:r>
              <a:t>  'nom': 'Jean',</a:t>
            </a:r>
            <a:br/>
            <a:r>
              <a:t>  'adresse': { </a:t>
            </a:r>
            <a:br/>
            <a:r>
              <a:t>    'rue': 'Main St', </a:t>
            </a:r>
            <a:br/>
            <a:r>
              <a:t>    'ville': 'Paris' 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>
                <a:solidFill>
                  <a:srgbClr val="003399"/>
                </a:solidFill>
                <a:latin typeface="Arial"/>
              </a:defRPr>
            </a:pPr>
            <a:r>
              <a:t>Ressources &amp; Outils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DB Fiddle (SQL Training)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MongoDB Atlas (NoSQL Cloud)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Stack Overflow (VBA/Excel Help)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Documentation Google AppScript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