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>
                <a:solidFill>
                  <a:srgbClr val="003399"/>
                </a:solidFill>
                <a:latin typeface="Arial"/>
              </a:defRPr>
            </a:pPr>
            <a:r>
              <a:t>Atelier Technique : Data Wrangling &amp; Bases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FF8C00"/>
                </a:solidFill>
                <a:latin typeface="Calibri"/>
              </a:defRPr>
            </a:pPr>
            <a:r>
              <a:t>De l'Excel avancé aux opérations CRUD SQL/NoSQL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Au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1. Nettoyage de Données (Excel &amp; Power Query)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2. Tri vs Filtre : Ne plus confondre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3. SQL vs NoSQL : CRUD en pratique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4. Gestion de Données : Bonnes Pratiques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5. Atelier Pratique : Telco &amp; Banque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Le Concept Clé : GIGO</a:t>
            </a:r>
          </a:p>
        </p:txBody>
      </p:sp>
      <p:sp>
        <p:nvSpPr>
          <p:cNvPr id="3" name="Can 2"/>
          <p:cNvSpPr/>
          <p:nvPr/>
        </p:nvSpPr>
        <p:spPr>
          <a:xfrm>
            <a:off x="914400" y="2743200"/>
            <a:ext cx="1371600" cy="1828800"/>
          </a:xfrm>
          <a:prstGeom prst="can">
            <a:avLst/>
          </a:prstGeom>
          <a:solidFill>
            <a:srgbClr val="50505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Données Sales</a:t>
            </a:r>
          </a:p>
          <a:p>
            <a:r>
              <a:t>(Garbage In)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43200" y="3200400"/>
            <a:ext cx="914400" cy="457200"/>
          </a:xfrm>
          <a:prstGeom prst="rightArrow">
            <a:avLst/>
          </a:prstGeom>
          <a:solidFill>
            <a:srgbClr val="003399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ear 6 4"/>
          <p:cNvSpPr/>
          <p:nvPr/>
        </p:nvSpPr>
        <p:spPr>
          <a:xfrm>
            <a:off x="4114800" y="2743200"/>
            <a:ext cx="1828800" cy="1828800"/>
          </a:xfrm>
          <a:prstGeom prst="gear6">
            <a:avLst/>
          </a:prstGeom>
          <a:solidFill>
            <a:srgbClr val="FF8C0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Traitement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400800" y="3200400"/>
            <a:ext cx="914400" cy="457200"/>
          </a:xfrm>
          <a:prstGeom prst="rightArrow">
            <a:avLst/>
          </a:prstGeom>
          <a:solidFill>
            <a:srgbClr val="003399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n 6"/>
          <p:cNvSpPr/>
          <p:nvPr/>
        </p:nvSpPr>
        <p:spPr>
          <a:xfrm>
            <a:off x="7772400" y="2743200"/>
            <a:ext cx="1371600" cy="1828800"/>
          </a:xfrm>
          <a:prstGeom prst="can">
            <a:avLst/>
          </a:prstGeom>
          <a:solidFill>
            <a:srgbClr val="50505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Résultat Faux</a:t>
            </a:r>
          </a:p>
          <a:p>
            <a:r>
              <a:t>(Garbage Out)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Exemple Telco : Un numéro '+33 6...' vs '06...' crée deux clients différents 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Excel : Trier ou Filtrer ?</a:t>
            </a:r>
          </a:p>
        </p:txBody>
      </p:sp>
      <p:sp>
        <p:nvSpPr>
          <p:cNvPr id="3" name="Up Arrow Callout 2"/>
          <p:cNvSpPr/>
          <p:nvPr/>
        </p:nvSpPr>
        <p:spPr>
          <a:xfrm>
            <a:off x="457200" y="1828800"/>
            <a:ext cx="3657600" cy="1828800"/>
          </a:xfrm>
          <a:prstGeom prst="upArrowCallout">
            <a:avLst/>
          </a:prstGeom>
          <a:solidFill>
            <a:srgbClr val="003399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TRIER (Sort)</a:t>
            </a:r>
          </a:p>
          <a:p>
            <a:r>
              <a:t>Organise l'ordre (A-Z, 1-10).</a:t>
            </a:r>
          </a:p>
          <a:p>
            <a:r>
              <a:t>Aucune donnée n'est cachée.</a:t>
            </a:r>
          </a:p>
          <a:p>
            <a:r>
              <a:t>Usage : Classement, Top 10.</a:t>
            </a:r>
          </a:p>
        </p:txBody>
      </p:sp>
      <p:sp>
        <p:nvSpPr>
          <p:cNvPr id="4" name="Funnel 3"/>
          <p:cNvSpPr/>
          <p:nvPr/>
        </p:nvSpPr>
        <p:spPr>
          <a:xfrm>
            <a:off x="4572000" y="1828800"/>
            <a:ext cx="3657600" cy="1828800"/>
          </a:xfrm>
          <a:prstGeom prst="funnel">
            <a:avLst/>
          </a:prstGeom>
          <a:solidFill>
            <a:srgbClr val="FF8C0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FILTRER (Filter)</a:t>
            </a:r>
          </a:p>
          <a:p>
            <a:r>
              <a:t>Masque les lignes non désirées.</a:t>
            </a:r>
          </a:p>
          <a:p>
            <a:r>
              <a:t>Attention : Les données cachées existent toujours !</a:t>
            </a:r>
          </a:p>
          <a:p>
            <a:r>
              <a:t>Usage : Focus sur une catégorie.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Au-delà d'Excel : Power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Pourquoi ? Excel plante après 1M lignes. Power Query automatise.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Fonctionnalité clé : ETL (Extract, Transform, Load).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Exemple : Séparer 'Nom Prénom' en 2 colonnes.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7315200" cy="2743200"/>
          </a:xfrm>
          <a:prstGeom prst="rect">
            <a:avLst/>
          </a:prstGeom>
          <a:solidFill>
            <a:srgbClr val="C8C8C8"/>
          </a:solidFill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646464"/>
                </a:solidFill>
              </a:defRPr>
            </a:pPr>
            <a:r>
              <a:t>[Capture d'écran : Power Query Editor : Colonne 'Split by Delimiter']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SQL : Le Langage Structuré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2743200" cy="1828800"/>
          </a:xfrm>
          <a:prstGeom prst="rect">
            <a:avLst/>
          </a:prstGeom>
          <a:solidFill>
            <a:srgbClr val="003399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Table 'Clients'</a:t>
            </a:r>
          </a:p>
          <a:p>
            <a:r>
              <a:t>ID | Nom | Solde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5029200" cy="4572000"/>
          </a:xfrm>
          <a:prstGeom prst="rect">
            <a:avLst/>
          </a:prstGeom>
          <a:solidFill>
            <a:srgbClr val="F0F0F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>
                <a:solidFill>
                  <a:srgbClr val="000000"/>
                </a:solidFill>
                <a:latin typeface="Consolas"/>
              </a:defRPr>
            </a:pPr>
            <a:r>
              <a:t>CREATE TABLE Clients (id INT, nom VARCHAR(50));</a:t>
            </a:r>
            <a:br/>
            <a:br/>
            <a:r>
              <a:t>-- C: Create</a:t>
            </a:r>
            <a:br/>
            <a:r>
              <a:t>INSERT INTO Clients VALUES (1, 'Jean');</a:t>
            </a:r>
            <a:br/>
            <a:br/>
            <a:r>
              <a:t>-- R: Read</a:t>
            </a:r>
            <a:br/>
            <a:r>
              <a:t>SELECT * FROM Clients WHERE id=1;</a:t>
            </a:r>
            <a:br/>
            <a:br/>
            <a:r>
              <a:t>-- U: Update</a:t>
            </a:r>
            <a:br/>
            <a:r>
              <a:t>UPDATE Clients SET nom='Paul' WHERE id=1;</a:t>
            </a:r>
            <a:br/>
            <a:br/>
            <a:r>
              <a:t>-- D: Delete</a:t>
            </a:r>
            <a:br/>
            <a:r>
              <a:t>DELETE FROM Clients WHERE id=1;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NoSQL : L'Approche Document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3200400" cy="2743200"/>
          </a:xfrm>
          <a:prstGeom prst="rect">
            <a:avLst/>
          </a:prstGeom>
          <a:solidFill>
            <a:srgbClr val="F0F0F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>
                <a:solidFill>
                  <a:srgbClr val="000000"/>
                </a:solidFill>
                <a:latin typeface="Consolas"/>
              </a:defRPr>
            </a:pPr>
            <a:r>
              <a:t>{</a:t>
            </a:r>
            <a:br/>
            <a:r>
              <a:t>  '_id': 1,</a:t>
            </a:r>
            <a:br/>
            <a:r>
              <a:t>  'nom': 'Jean',</a:t>
            </a:r>
            <a:br/>
            <a:r>
              <a:t>  'historique': ['Achat1', 'Achat2']</a:t>
            </a:r>
            <a:br/>
            <a: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828800"/>
            <a:ext cx="4572000" cy="4572000"/>
          </a:xfrm>
          <a:prstGeom prst="rect">
            <a:avLst/>
          </a:prstGeom>
          <a:solidFill>
            <a:srgbClr val="F0F0F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>
                <a:solidFill>
                  <a:srgbClr val="000000"/>
                </a:solidFill>
                <a:latin typeface="Consolas"/>
              </a:defRPr>
            </a:pPr>
            <a:r>
              <a:t>// C: Create</a:t>
            </a:r>
            <a:br/>
            <a:r>
              <a:t>db.clients.insertOne({nom: 'Jean'});</a:t>
            </a:r>
            <a:br/>
            <a:br/>
            <a:r>
              <a:t>// R: Read</a:t>
            </a:r>
            <a:br/>
            <a:r>
              <a:t>db.clients.find({nom: 'Jean'});</a:t>
            </a:r>
            <a:br/>
            <a:br/>
            <a:r>
              <a:t>// U: Update</a:t>
            </a:r>
            <a:br/>
            <a:r>
              <a:t>db.clients.updateOne({nom: 'Jean'}, {$set: {nom: 'Paul'}});</a:t>
            </a:r>
            <a:br/>
            <a:br/>
            <a:r>
              <a:t>// D: Delete</a:t>
            </a:r>
            <a:br/>
            <a:r>
              <a:t>db.clients.deleteOne({nom: 'Paul'});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Ne pas confondre !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3200400" cy="1828800"/>
          </a:xfrm>
          <a:prstGeom prst="rect">
            <a:avLst/>
          </a:prstGeom>
          <a:solidFill>
            <a:srgbClr val="FF8C00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DELETE</a:t>
            </a:r>
          </a:p>
          <a:p>
            <a:r>
              <a:t>Supprime les DONNÉES.</a:t>
            </a:r>
          </a:p>
          <a:p>
            <a:r>
              <a:t>La table (structure) reste vide.</a:t>
            </a:r>
          </a:p>
          <a:p>
            <a:r>
              <a:t>On peut annuler (Rollback).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828800"/>
            <a:ext cx="3200400" cy="1828800"/>
          </a:xfrm>
          <a:prstGeom prst="rect">
            <a:avLst/>
          </a:prstGeom>
          <a:solidFill>
            <a:srgbClr val="003399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DROP</a:t>
            </a:r>
          </a:p>
          <a:p>
            <a:r>
              <a:t>Supprime TOUT.</a:t>
            </a:r>
          </a:p>
          <a:p>
            <a:r>
              <a:t>Données + Structure.</a:t>
            </a:r>
          </a:p>
          <a:p>
            <a:r>
              <a:t>Irréversible (sauf backup).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Standards Internationaux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Dates (ISO 8601) : YYYY-MM-DD (2023-12-31).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Décimales : Point (.) ou Virgule (,) ? Dépend du système (US vs FR).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Encodage : UTF-8 (pour les accents é, à, ç).</a:t>
            </a:r>
          </a:p>
        </p:txBody>
      </p:sp>
      <p:sp>
        <p:nvSpPr>
          <p:cNvPr id="4" name="Plaque 3"/>
          <p:cNvSpPr/>
          <p:nvPr/>
        </p:nvSpPr>
        <p:spPr>
          <a:xfrm>
            <a:off x="5486400" y="3657600"/>
            <a:ext cx="2743200" cy="1371600"/>
          </a:xfrm>
          <a:prstGeom prst="plaque">
            <a:avLst/>
          </a:prstGeom>
          <a:solidFill>
            <a:srgbClr val="003399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2023-12-31</a:t>
            </a:r>
          </a:p>
          <a:p>
            <a:r>
              <a:t>✅ Standard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200">
                <a:solidFill>
                  <a:srgbClr val="003399"/>
                </a:solidFill>
                <a:latin typeface="Arial"/>
              </a:defRPr>
            </a:pPr>
            <a:r>
              <a:t>Checklist du Gestionnaire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1. Toujours garder une copie du fichier BRUT (Raw Data).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2. Ne jamais travailler sur l'original.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3. Documenter les nettoyages faits (ex: 'J'ai remplacé les vides par 0').</a:t>
            </a:r>
          </a:p>
          <a:p>
            <a:pPr>
              <a:spcAft>
                <a:spcPts val="1000"/>
              </a:spcAft>
              <a:defRPr sz="2000">
                <a:solidFill>
                  <a:srgbClr val="505050"/>
                </a:solidFill>
                <a:latin typeface="Calibri"/>
              </a:defRPr>
            </a:pPr>
            <a:r>
              <a:t>4. Vérifier les types (Est-ce que '123' est un nombre ou du texte ?).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