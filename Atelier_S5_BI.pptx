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003399"/>
                </a:solidFill>
                <a:latin typeface="Arial"/>
              </a:defRPr>
            </a:pPr>
            <a:r>
              <a:t>Semaine 5 : Intro Business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F8C00"/>
                </a:solidFill>
                <a:latin typeface="Calibri"/>
              </a:defRPr>
            </a:pPr>
            <a:r>
              <a:t>Du Tableur Classique au Tableau de Bord Interactif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>
                <a:solidFill>
                  <a:srgbClr val="003399"/>
                </a:solidFill>
                <a:latin typeface="Arial"/>
              </a:defRPr>
            </a:pPr>
            <a:r>
              <a:t>1. Pourquoi un Dashboard 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3200400" cy="3657600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EXCEL</a:t>
            </a:r>
          </a:p>
          <a:p/>
          <a:p>
            <a:r>
              <a:t>C'est la mécanique.</a:t>
            </a:r>
          </a:p>
          <a:p>
            <a:r>
              <a:t>Des millions de chiffres.</a:t>
            </a:r>
          </a:p>
          <a:p>
            <a:r>
              <a:t>Il faut chercher l'info.</a:t>
            </a:r>
          </a:p>
          <a:p>
            <a:r>
              <a:t>Complexe et statique.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3657600" cy="3657600"/>
          </a:xfrm>
          <a:prstGeom prst="rect">
            <a:avLst/>
          </a:prstGeom>
          <a:solidFill>
            <a:srgbClr val="FF8C0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BI (DASHBOARD)</a:t>
            </a:r>
          </a:p>
          <a:p/>
          <a:p>
            <a:r>
              <a:t>C'est le tableau de bord.</a:t>
            </a:r>
          </a:p>
          <a:p>
            <a:r>
              <a:t>Un seul coup d'œil.</a:t>
            </a:r>
          </a:p>
          <a:p>
            <a:r>
              <a:t>Jauges, Alertes, Carte.</a:t>
            </a:r>
          </a:p>
          <a:p>
            <a:r>
              <a:t>Interactif et Dynamique.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0" y="3657600"/>
            <a:ext cx="914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>
                <a:solidFill>
                  <a:srgbClr val="003399"/>
                </a:solidFill>
                <a:latin typeface="Arial"/>
              </a:defRPr>
            </a:pPr>
            <a:r>
              <a:t>2. Atelier Pratique : Transition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743200"/>
            <a:ext cx="1828800" cy="1371600"/>
          </a:xfrm>
          <a:prstGeom prst="roundRect">
            <a:avLst/>
          </a:prstGeom>
          <a:solidFill>
            <a:srgbClr val="003399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Connecter</a:t>
            </a:r>
          </a:p>
          <a:p>
            <a:r>
              <a:t>(Excel, Web...)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2743200"/>
            <a:ext cx="1828800" cy="1371600"/>
          </a:xfrm>
          <a:prstGeom prst="roundRect">
            <a:avLst/>
          </a:prstGeom>
          <a:solidFill>
            <a:srgbClr val="FF8C0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Transformer</a:t>
            </a:r>
          </a:p>
          <a:p>
            <a:r>
              <a:t>(Nettoyer)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743200"/>
            <a:ext cx="1828800" cy="1371600"/>
          </a:xfrm>
          <a:prstGeom prst="round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Visualiser</a:t>
            </a:r>
          </a:p>
          <a:p>
            <a:r>
              <a:t>(Graphiques)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3429000"/>
            <a:ext cx="914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0" y="3429000"/>
            <a:ext cx="914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45720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Exercice : Importer 'dataset_S5_bi.xlsx' dans Power BI Desktop ou Looker Studio.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