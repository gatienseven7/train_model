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003399"/>
                </a:solidFill>
                <a:latin typeface="Arial"/>
              </a:defRPr>
            </a:pPr>
            <a:r>
              <a:t>Semaine 4 : Logique &amp; Visuels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8C00"/>
                </a:solidFill>
                <a:latin typeface="Calibri"/>
              </a:defRPr>
            </a:pPr>
            <a:r>
              <a:t>Décider (SI) &amp; Raconter (Graphiques)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>
                <a:solidFill>
                  <a:srgbClr val="003399"/>
                </a:solidFill>
                <a:latin typeface="Arial"/>
              </a:defRPr>
            </a:pPr>
            <a:r>
              <a:t>1. Quelle histoire raconter ? (Théorie)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Un tableau est pour les détails. Un graphique est pour les décisions.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Comparer ? -&gt; Histogramme (Barres). Qui est le meilleur ?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Évolution ? -&gt; Courbe (Ligne). Ça monte ou ça descend ?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Proportions ? -&gt; Camembert (Secteurs). Quelle part du budget ?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Standards internationaux : Toujours un Titre, une Légende et des Axes clairs.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828800"/>
            <a:ext cx="457200" cy="2743200"/>
          </a:xfrm>
          <a:prstGeom prst="rect">
            <a:avLst/>
          </a:prstGeom>
          <a:solidFill>
            <a:srgbClr val="003399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Bar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0" y="2743200"/>
            <a:ext cx="457200" cy="1828800"/>
          </a:xfrm>
          <a:prstGeom prst="rect">
            <a:avLst/>
          </a:prstGeom>
          <a:solidFill>
            <a:srgbClr val="FF8C0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Bar</a:t>
            </a:r>
          </a:p>
        </p:txBody>
      </p:sp>
      <p:sp>
        <p:nvSpPr>
          <p:cNvPr id="6" name="Oval 5"/>
          <p:cNvSpPr/>
          <p:nvPr/>
        </p:nvSpPr>
        <p:spPr>
          <a:xfrm>
            <a:off x="6400800" y="5029200"/>
            <a:ext cx="1828800" cy="1828800"/>
          </a:xfrm>
          <a:prstGeom prst="ellipse">
            <a:avLst/>
          </a:prstGeom>
          <a:solidFill>
            <a:srgbClr val="003399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Pie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>
                <a:solidFill>
                  <a:srgbClr val="003399"/>
                </a:solidFill>
                <a:latin typeface="Arial"/>
              </a:defRPr>
            </a:pPr>
            <a:r>
              <a:t>2. Atelier Pratique : Step-by-Step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286000" cy="1371600"/>
          </a:xfrm>
          <a:prstGeom prst="roundRect">
            <a:avLst/>
          </a:prstGeom>
          <a:solidFill>
            <a:srgbClr val="003399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1. Sélectionner</a:t>
            </a:r>
          </a:p>
          <a:p>
            <a:r>
              <a:t>Données + Titres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0" y="25146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00400" y="1828800"/>
            <a:ext cx="2286000" cy="1371600"/>
          </a:xfrm>
          <a:prstGeom prst="roundRect">
            <a:avLst/>
          </a:prstGeom>
          <a:solidFill>
            <a:srgbClr val="FF8C0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2. Insérer</a:t>
            </a:r>
          </a:p>
          <a:p>
            <a:r>
              <a:t>Menu Insertion &gt; Graphique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0" y="25146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0" y="1828800"/>
            <a:ext cx="2286000" cy="1371600"/>
          </a:xfrm>
          <a:prstGeom prst="round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3. Personnaliser</a:t>
            </a:r>
          </a:p>
          <a:p>
            <a:r>
              <a:t>Titre, Axes, Couleurs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Calibri"/>
              </a:defRPr>
            </a:pPr>
            <a:r>
              <a:t>Exercice : Ventes Magasin (Histogramme) et Budget (Camembert)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