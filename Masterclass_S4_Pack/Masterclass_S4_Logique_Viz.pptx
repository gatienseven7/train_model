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Au-delà des chiffres : L'intelligence de la donnée</a:t>
            </a:r>
          </a:p>
          <a:p>
            <a:pPr>
              <a:defRPr sz="2000" i="1">
                <a:solidFill>
                  <a:srgbClr val="D32F2F"/>
                </a:solidFill>
                <a:latin typeface="Calibri"/>
              </a:defRPr>
            </a:pPr>
            <a:r>
              <a:t>Passer de la 'Data Brute' à l''Information Actionnable'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La donnée n'a de valeur que si elle déclenche une action.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Nous passons du statut de 'Saisisseur' à celui de 'Décideur'.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La Data Brute est muette : Un tableau de 10 000 lignes ne raconte rien sans contexte.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L'Intelligence commence ici : La logique conditionnelle automatise la pensée.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La Visualisation est le traducteur : Elle convertit la complexité en évidence stratégique.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1645920" cy="9144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23232"/>
                </a:solidFill>
                <a:latin typeface="Calibri"/>
              </a:defRPr>
            </a:pPr>
            <a:r>
              <a:t>Donnée</a:t>
            </a:r>
          </a:p>
          <a:p>
            <a:r>
              <a:t>(Brute)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4389120"/>
            <a:ext cx="457200" cy="365760"/>
          </a:xfrm>
          <a:prstGeom prst="rightArrow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ear 6 6"/>
          <p:cNvSpPr/>
          <p:nvPr/>
        </p:nvSpPr>
        <p:spPr>
          <a:xfrm>
            <a:off x="3383280" y="4114800"/>
            <a:ext cx="914400" cy="914400"/>
          </a:xfrm>
          <a:prstGeom prst="gear6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Logique</a:t>
            </a:r>
          </a:p>
          <a:p>
            <a:r>
              <a:t>(SI)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0560" y="4389120"/>
            <a:ext cx="457200" cy="365760"/>
          </a:xfrm>
          <a:prstGeom prst="rightArrow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 X 8"/>
          <p:cNvSpPr/>
          <p:nvPr/>
        </p:nvSpPr>
        <p:spPr>
          <a:xfrm>
            <a:off x="5120640" y="4114800"/>
            <a:ext cx="1097280" cy="914400"/>
          </a:xfrm>
          <a:prstGeom prst="chartX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Viz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00800" y="4389120"/>
            <a:ext cx="457200" cy="365760"/>
          </a:xfrm>
          <a:prstGeom prst="rightArrow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0" y="4023360"/>
            <a:ext cx="1097280" cy="109728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Décision</a:t>
            </a:r>
          </a:p>
          <a:p>
            <a:r>
              <a:t>(Action)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Le premier algorithme : Automatiser la décision avec '=SI()'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0F2043"/>
                </a:solidFill>
                <a:latin typeface="Arial"/>
              </a:defRPr>
            </a:pPr>
            <a:r>
              <a:t>L'Anatomie d'une règle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Syntaxe : =SI(Test logique ; Action si Vrai ; Action si Faux)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0F2043"/>
                </a:solidFill>
                <a:latin typeface="Arial"/>
              </a:defRPr>
            </a:pPr>
            <a:r>
              <a:t>Impact Métier (Use Cases)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RH : Automatisation du statut 'Admis/Recalé' sans relecture humaine.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Finance : Alerte automatique en cas de 'Dépassement de Budget'.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Commerce : Déclenchement d'un bonus si 'Objectif Atteint'.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3200400" cy="1371600"/>
          </a:xfrm>
          <a:prstGeom prst="round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IF Budget &gt; 10k</a:t>
            </a:r>
          </a:p>
          <a:p>
            <a:r>
              <a:t>THEN Alert = 'ROUGE'</a:t>
            </a:r>
          </a:p>
          <a:p>
            <a:r>
              <a:t>ELSE Alert = 'OK'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D32F2F"/>
                </a:solidFill>
                <a:latin typeface="Calibri"/>
              </a:defRPr>
            </a:pPr>
            <a:r>
              <a:t>PRO-TIP: Une bonne condition est binaire : C'est Oui ou Non. C'est l'essence même de la logique informatique et du reporting par exception.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L'Art du Choix Graphique : La rigueur contre le superflu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Un mauvais graphique ment. Le choix du type de visualisation dicte la vérité transmise.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5603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23232"/>
                </a:solidFill>
                <a:latin typeface="Calibri"/>
              </a:defRPr>
            </a:pPr>
            <a:r>
              <a:t>HISTOGRAMME (Barres)</a:t>
            </a:r>
          </a:p>
          <a:p/>
          <a:p>
            <a:r>
              <a:t>Benchmark.</a:t>
            </a:r>
          </a:p>
          <a:p>
            <a:r>
              <a:t>Comparer des catégories (Vendeur A vs B).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286000"/>
            <a:ext cx="25603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23232"/>
                </a:solidFill>
                <a:latin typeface="Calibri"/>
              </a:defRPr>
            </a:pPr>
            <a:r>
              <a:t>COURBE (Lignes)</a:t>
            </a:r>
          </a:p>
          <a:p/>
          <a:p>
            <a:r>
              <a:t>Tendance.</a:t>
            </a:r>
          </a:p>
          <a:p>
            <a:r>
              <a:t>Série temporelle, évolution (Saisonnalité).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286000"/>
            <a:ext cx="25603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23232"/>
                </a:solidFill>
                <a:latin typeface="Calibri"/>
              </a:defRPr>
            </a:pPr>
            <a:r>
              <a:t>CAMEMBERT (Secteurs)</a:t>
            </a:r>
          </a:p>
          <a:p/>
          <a:p>
            <a:r>
              <a:t>Proportion.</a:t>
            </a:r>
          </a:p>
          <a:p>
            <a:r>
              <a:t>Mix de coûts (Max 2 à 5 catégories).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D32F2F"/>
                </a:solidFill>
                <a:latin typeface="Calibri"/>
              </a:defRPr>
            </a:pPr>
            <a:r>
              <a:t>PRO-TIP: La Règle d'Edward Tufte : Le Data-Ink Ratio. Effacez tout ce qui n'est pas de la donnée (grilles inutiles, effets 3D). Maximisez le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Déconstruire pour convaincre : Du X au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0F2043"/>
                </a:solidFill>
                <a:latin typeface="Arial"/>
              </a:defRPr>
            </a:pPr>
            <a:r>
              <a:t>Les Axes ne sont pas juste mathématiques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Axe Abscisses (X) = Le Contexte : Segmentation (Vendeurs), Temps (Mois). Le 'Qui' ou le 'Quand'.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Axe Ordonnées (Y) = La Valeur Métier : Performance (CA), Taux de conversion. Le 'Combien'.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Storytelling : Ne montrez pas 'Le CA par Vendeur'. Racontez 'Pourquoi l'équipe Sud surperforme au T3'.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486400" y="4114800"/>
            <a:ext cx="1828800" cy="91440"/>
          </a:xfrm>
          <a:prstGeom prst="rightArrow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5486400" y="2286000"/>
            <a:ext cx="91440" cy="1828800"/>
          </a:xfrm>
          <a:prstGeom prst="upArrow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3200400"/>
            <a:ext cx="365760" cy="91440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560320"/>
            <a:ext cx="365760" cy="155448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3474720"/>
            <a:ext cx="365760" cy="64008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Axe Y</a:t>
            </a:r>
          </a:p>
          <a:p>
            <a:r>
              <a:t>(Impact)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Axe X (Contexte)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La Checklist du Data Storyteller</a:t>
            </a:r>
          </a:p>
          <a:p>
            <a:pPr>
              <a:defRPr sz="2000" i="1">
                <a:solidFill>
                  <a:srgbClr val="D32F2F"/>
                </a:solidFill>
                <a:latin typeface="Calibri"/>
              </a:defRPr>
            </a:pPr>
            <a:r>
              <a:t>La visualisation est une discipline de simplification extrême.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1. Le Titre est une conclusion : Pas 'Ventes 2023', mais 'Croissance record portée par le B2B en 2023'.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2. Data-Ink Ratio absolu : Supprimez les quadrillages denses, ombres portées et couleurs agressives inutiles.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3. Étiquetage explicite : Des axes toujours nommés, des unités claires (K€, %). Ne forcez pas l'audience à deviner.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4. Zéro Biais Visuel : Fuyez la 3D. L'axe Y d'un histogramme doit toujours commencer à Zéro pour ne pas exagérer les écarts.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0F2043"/>
                </a:solidFill>
                <a:latin typeface="Arial"/>
              </a:defRPr>
            </a:pPr>
            <a:r>
              <a:t>"Le but de la visualisation est l'insight, pas l'image." - Ben Shneiderman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